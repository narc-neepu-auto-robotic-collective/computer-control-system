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57" r:id="rId5"/>
    <p:sldId id="258" r:id="rId6"/>
    <p:sldId id="259" r:id="rId7"/>
    <p:sldId id="270" r:id="rId8"/>
    <p:sldId id="271" r:id="rId9"/>
    <p:sldId id="273" r:id="rId10"/>
    <p:sldId id="274" r:id="rId11"/>
    <p:sldId id="275" r:id="rId12"/>
    <p:sldId id="276" r:id="rId13"/>
    <p:sldId id="293" r:id="rId14"/>
    <p:sldId id="294" r:id="rId15"/>
    <p:sldId id="295" r:id="rId16"/>
    <p:sldId id="306" r:id="rId17"/>
    <p:sldId id="278" r:id="rId18"/>
    <p:sldId id="291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  <p:sldId id="305" r:id="rId29"/>
    <p:sldId id="277" r:id="rId30"/>
    <p:sldId id="280" r:id="rId31"/>
    <p:sldId id="288" r:id="rId32"/>
    <p:sldId id="287" r:id="rId33"/>
    <p:sldId id="286" r:id="rId34"/>
    <p:sldId id="289" r:id="rId35"/>
    <p:sldId id="290" r:id="rId36"/>
    <p:sldId id="285" r:id="rId37"/>
    <p:sldId id="284" r:id="rId38"/>
    <p:sldId id="292" r:id="rId39"/>
    <p:sldId id="307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21" autoAdjust="0"/>
    <p:restoredTop sz="86594" autoAdjust="0"/>
  </p:normalViewPr>
  <p:slideViewPr>
    <p:cSldViewPr snapToGrid="0">
      <p:cViewPr varScale="1">
        <p:scale>
          <a:sx n="96" d="100"/>
          <a:sy n="96" d="100"/>
        </p:scale>
        <p:origin x="3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3193" y="474151"/>
            <a:ext cx="4213327" cy="104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581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600" y="104621"/>
            <a:ext cx="2355245" cy="507436"/>
          </a:xfrm>
          <a:prstGeom prst="rect">
            <a:avLst/>
          </a:prstGeom>
        </p:spPr>
      </p:pic>
      <p:cxnSp>
        <p:nvCxnSpPr>
          <p:cNvPr id="8" name="直接连接符 7"/>
          <p:cNvCxnSpPr/>
          <p:nvPr userDrawn="1"/>
        </p:nvCxnSpPr>
        <p:spPr>
          <a:xfrm>
            <a:off x="176981" y="730045"/>
            <a:ext cx="11834360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76982" y="126052"/>
            <a:ext cx="8829367" cy="464574"/>
          </a:xfrm>
          <a:prstGeom prst="rect">
            <a:avLst/>
          </a:prstGeom>
        </p:spPr>
        <p:txBody>
          <a:bodyPr anchor="b"/>
          <a:lstStyle>
            <a:lvl1pPr algn="l">
              <a:defRPr sz="2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74154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7ABA7-9B7E-4F75-AF60-A9A398F72F5B}" type="datetimeFigureOut">
              <a:rPr lang="zh-CN" altLang="en-US" smtClean="0"/>
              <a:t>2025/1/13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A5255-A766-4E1E-917D-CC2DB49953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09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7ABA7-9B7E-4F75-AF60-A9A398F72F5B}" type="datetimeFigureOut">
              <a:rPr lang="zh-CN" altLang="en-US" smtClean="0"/>
              <a:t>2025/1/13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A5255-A766-4E1E-917D-CC2DB49953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8430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7ABA7-9B7E-4F75-AF60-A9A398F72F5B}" type="datetimeFigureOut">
              <a:rPr lang="zh-CN" altLang="en-US" smtClean="0"/>
              <a:t>2025/1/13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A5255-A766-4E1E-917D-CC2DB49953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595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7ABA7-9B7E-4F75-AF60-A9A398F72F5B}" type="datetimeFigureOut">
              <a:rPr lang="zh-CN" altLang="en-US" smtClean="0"/>
              <a:t>2025/1/13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A5255-A766-4E1E-917D-CC2DB49953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397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7ABA7-9B7E-4F75-AF60-A9A398F72F5B}" type="datetimeFigureOut">
              <a:rPr lang="zh-CN" altLang="en-US" smtClean="0"/>
              <a:t>2025/1/13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A5255-A766-4E1E-917D-CC2DB49953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445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7ABA7-9B7E-4F75-AF60-A9A398F72F5B}" type="datetimeFigureOut">
              <a:rPr lang="zh-CN" altLang="en-US" smtClean="0"/>
              <a:t>2025/1/13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A5255-A766-4E1E-917D-CC2DB49953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36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7ABA7-9B7E-4F75-AF60-A9A398F72F5B}" type="datetimeFigureOut">
              <a:rPr lang="zh-CN" altLang="en-US" smtClean="0"/>
              <a:t>2025/1/13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A5255-A766-4E1E-917D-CC2DB49953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787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7ABA7-9B7E-4F75-AF60-A9A398F72F5B}" type="datetimeFigureOut">
              <a:rPr lang="zh-CN" altLang="en-US" smtClean="0"/>
              <a:t>2025/1/13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A5255-A766-4E1E-917D-CC2DB49953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848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7ABA7-9B7E-4F75-AF60-A9A398F72F5B}" type="datetimeFigureOut">
              <a:rPr lang="zh-CN" altLang="en-US" smtClean="0"/>
              <a:t>2025/1/13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A5255-A766-4E1E-917D-CC2DB49953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783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97ABA7-9B7E-4F75-AF60-A9A398F72F5B}" type="datetimeFigureOut">
              <a:rPr lang="zh-CN" altLang="en-US" smtClean="0"/>
              <a:t>2025/1/13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A5255-A766-4E1E-917D-CC2DB49953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126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874984" y="1571603"/>
            <a:ext cx="6670416" cy="49531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240000"/>
              </a:lnSpc>
              <a:spcBef>
                <a:spcPts val="1700"/>
              </a:spcBef>
              <a:spcAft>
                <a:spcPts val="1650"/>
              </a:spcAft>
            </a:pPr>
            <a:r>
              <a:rPr lang="zh-CN" altLang="zh-CN" sz="3600" b="1" kern="2200" dirty="0">
                <a:latin typeface="Times New Roman" panose="02020603050405020304" pitchFamily="18" charset="0"/>
                <a:ea typeface="宋体" panose="02010600030101010101" pitchFamily="2" charset="-122"/>
              </a:rPr>
              <a:t>《计算机控制系统》设计性</a:t>
            </a:r>
            <a:r>
              <a:rPr lang="zh-CN" altLang="zh-CN" sz="3600" b="1" kern="22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实验</a:t>
            </a:r>
            <a:endParaRPr lang="en-US" altLang="zh-CN" sz="3600" b="1" kern="2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240000"/>
              </a:lnSpc>
              <a:spcBef>
                <a:spcPts val="1700"/>
              </a:spcBef>
              <a:spcAft>
                <a:spcPts val="1650"/>
              </a:spcAft>
            </a:pPr>
            <a:endParaRPr lang="en-US" altLang="zh-CN" sz="3600" b="1" kern="22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240000"/>
              </a:lnSpc>
              <a:spcBef>
                <a:spcPts val="1700"/>
              </a:spcBef>
              <a:spcAft>
                <a:spcPts val="1650"/>
              </a:spcAft>
            </a:pPr>
            <a:r>
              <a:rPr lang="zh-CN" altLang="en-US" sz="3600" b="1" kern="22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朴亨 孙天一</a:t>
            </a:r>
            <a:endParaRPr lang="zh-CN" altLang="zh-CN" sz="3600" b="1" kern="22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056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581802" y="1954331"/>
            <a:ext cx="922402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3200" b="1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实验成绩：</a:t>
            </a:r>
            <a:r>
              <a:rPr lang="en-US" altLang="zh-CN" sz="3200" b="1" kern="100" dirty="0" smtClean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3200" b="1" kern="100" dirty="0" smtClean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endParaRPr lang="en-US" altLang="zh-CN" sz="3200" b="1" kern="100" dirty="0" smtClean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32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每次实验需要签到</a:t>
            </a:r>
            <a:r>
              <a:rPr lang="zh-CN" altLang="en-US" sz="3200" b="1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（共</a:t>
            </a:r>
            <a:r>
              <a:rPr lang="en-US" altLang="zh-CN" sz="3200" b="1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2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zh-CN" altLang="en-US" sz="3200" b="1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3200" b="1" kern="1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32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最终交</a:t>
            </a:r>
            <a:r>
              <a:rPr lang="en-US" altLang="zh-CN" sz="3200" b="1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b="1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份</a:t>
            </a:r>
            <a:r>
              <a:rPr lang="en-US" altLang="zh-CN" sz="32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32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设计性实验报告</a:t>
            </a:r>
            <a:r>
              <a:rPr lang="en-US" altLang="zh-CN" sz="32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3200" b="1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（打印版）</a:t>
            </a:r>
            <a:endParaRPr lang="en-US" altLang="zh-CN" sz="3200" b="1" kern="1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实验基本情况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7097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6982" y="590626"/>
            <a:ext cx="6327185" cy="5994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题目</a:t>
            </a: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：孵化室温度控制系统设计</a:t>
            </a:r>
            <a:endParaRPr lang="en-US" altLang="zh-CN" sz="2800" b="1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200000"/>
              </a:lnSpc>
            </a:pP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题目</a:t>
            </a: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机柜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温度控制系统设计</a:t>
            </a:r>
            <a:endParaRPr lang="en-US" altLang="zh-CN" sz="2800" b="1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200000"/>
              </a:lnSpc>
            </a:pP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题目</a:t>
            </a: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湿度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控制系统设计</a:t>
            </a:r>
            <a:endParaRPr lang="en-US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200000"/>
              </a:lnSpc>
            </a:pP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题目</a:t>
            </a: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粮仓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湿度控制系统设计</a:t>
            </a:r>
            <a:endParaRPr lang="en-US" altLang="zh-CN" sz="2800" b="1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200000"/>
              </a:lnSpc>
            </a:pP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题目</a:t>
            </a: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室内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亮度控制系统设计</a:t>
            </a:r>
            <a:endParaRPr lang="en-US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200000"/>
              </a:lnSpc>
            </a:pP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题目</a:t>
            </a: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音量调节系统设计</a:t>
            </a:r>
            <a:endParaRPr lang="en-US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200000"/>
              </a:lnSpc>
            </a:pP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题目</a:t>
            </a: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速巡航小车设计</a:t>
            </a:r>
            <a:endParaRPr lang="en-US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673257" y="4749279"/>
            <a:ext cx="5817704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600" b="1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各组严禁雷同，雷同</a:t>
            </a:r>
            <a:r>
              <a:rPr lang="en-US" altLang="zh-CN" sz="3600" b="1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3600" b="1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endParaRPr lang="en-US" altLang="zh-CN" sz="3600" b="1" kern="1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32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人一组，自行</a:t>
            </a:r>
            <a:r>
              <a:rPr lang="zh-CN" altLang="en-US" sz="32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分工</a:t>
            </a:r>
            <a:endParaRPr lang="en-US" altLang="zh-CN" sz="32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设计题目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892" y="874738"/>
            <a:ext cx="3866435" cy="387454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0660053" y="1370546"/>
            <a:ext cx="59980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扫码抽题</a:t>
            </a:r>
            <a:endParaRPr lang="zh-CN" altLang="zh-CN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6562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76630" y="901700"/>
            <a:ext cx="1154707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9845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掌握不同被控对象的控制系统设计方法和基本思想，从工程实际角度设计题目，做到全面认知和理解实际工程与</a:t>
            </a:r>
            <a:r>
              <a:rPr lang="zh-CN" altLang="en-US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r>
              <a:rPr lang="zh-CN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的区别</a:t>
            </a:r>
            <a:r>
              <a:rPr lang="zh-CN" altLang="en-US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逐步建立工程设计思想，以提高系统设计技巧、方法和解决实际问题的能力。</a:t>
            </a:r>
            <a:endParaRPr lang="zh-CN" altLang="zh-CN" kern="100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0000" lvl="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342900" algn="l"/>
              </a:tabLst>
            </a:pPr>
            <a:r>
              <a:rPr lang="en-US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首先了解和掌握被控制对象的特性</a:t>
            </a:r>
            <a:endParaRPr lang="zh-CN" altLang="zh-CN" kern="100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0000" lvl="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342900" algn="l"/>
              </a:tabLst>
            </a:pPr>
            <a:r>
              <a:rPr lang="en-US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合理</a:t>
            </a:r>
            <a:r>
              <a:rPr lang="zh-CN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传感器和执行器</a:t>
            </a:r>
            <a:r>
              <a:rPr lang="zh-CN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包括量程、精度等</a:t>
            </a:r>
            <a:r>
              <a:rPr lang="zh-CN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zh-CN" kern="100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0000" lvl="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342900" algn="l"/>
              </a:tabLst>
            </a:pPr>
            <a:r>
              <a:rPr lang="en-US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对计算机控制系统接口的设计（包括存储器、键盘、显示等）</a:t>
            </a:r>
            <a:endParaRPr lang="en-US" altLang="zh-CN" sz="24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0000" lvl="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342900" algn="l"/>
              </a:tabLst>
            </a:pPr>
            <a:r>
              <a:rPr lang="en-US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制定合理的、先进的控制算法和控制器（控制器如</a:t>
            </a:r>
            <a:r>
              <a:rPr lang="en-US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、自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适应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zh-CN" kern="100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0000" lvl="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342900" algn="l"/>
              </a:tabLst>
            </a:pPr>
            <a:r>
              <a:rPr lang="en-US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结合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控制系统的</a:t>
            </a:r>
            <a:r>
              <a:rPr lang="zh-CN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硬件系统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特点进行软件</a:t>
            </a:r>
            <a:r>
              <a:rPr lang="zh-CN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altLang="zh-CN" kern="100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0000" lvl="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342900" algn="l"/>
              </a:tabLst>
            </a:pPr>
            <a:r>
              <a:rPr lang="en-US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画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出系统硬件原理图和软件</a:t>
            </a:r>
            <a:r>
              <a:rPr lang="zh-CN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框图</a:t>
            </a:r>
            <a:endParaRPr lang="zh-CN" altLang="zh-CN" kern="100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80000" lvl="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342900" algn="l"/>
              </a:tabLst>
            </a:pPr>
            <a:r>
              <a:rPr lang="en-US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系统调试，最后完成设计</a:t>
            </a:r>
            <a:r>
              <a:rPr lang="zh-CN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endParaRPr lang="zh-CN" altLang="zh-CN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实验目的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0727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36590" y="674348"/>
            <a:ext cx="9761552" cy="57485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zh-CN" altLang="en-US" sz="3200" b="1" kern="100" dirty="0" smtClean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现场演示（最后一节课）</a:t>
            </a:r>
            <a:r>
              <a:rPr lang="en-US" altLang="zh-CN" sz="3200" b="1" kern="100" dirty="0" smtClean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  <a:r>
              <a:rPr lang="zh-CN" altLang="en-US" sz="3200" b="1" kern="100" dirty="0" smtClean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份实验报告</a:t>
            </a:r>
            <a:endParaRPr lang="en-US" altLang="zh-CN" sz="3200" b="1" kern="100" dirty="0" smtClean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3200" b="1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成品要求</a:t>
            </a:r>
            <a:r>
              <a:rPr lang="en-US" altLang="zh-CN" sz="3200" b="1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200" b="1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体现在实验报告中</a:t>
            </a:r>
            <a:r>
              <a:rPr lang="en-US" altLang="zh-CN" sz="3200" b="1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3200" b="1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zh-CN" sz="2000" kern="100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just">
              <a:lnSpc>
                <a:spcPct val="200000"/>
              </a:lnSpc>
              <a:spcAft>
                <a:spcPts val="0"/>
              </a:spcAft>
              <a:buFont typeface="+mj-lt"/>
              <a:buAutoNum type="arabicPeriod"/>
              <a:tabLst>
                <a:tab pos="342900" algn="l"/>
              </a:tabLst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传感器、执行器选型（要有依据）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just">
              <a:lnSpc>
                <a:spcPct val="200000"/>
              </a:lnSpc>
              <a:spcAft>
                <a:spcPts val="0"/>
              </a:spcAft>
              <a:buFont typeface="+mj-lt"/>
              <a:buAutoNum type="arabicPeriod"/>
              <a:tabLst>
                <a:tab pos="342900" algn="l"/>
              </a:tabLst>
            </a:pPr>
            <a:r>
              <a:rPr lang="en-US" altLang="zh-CN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硬件</a:t>
            </a:r>
            <a:r>
              <a:rPr lang="zh-CN" altLang="zh-CN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原理图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just">
              <a:lnSpc>
                <a:spcPct val="200000"/>
              </a:lnSpc>
              <a:spcAft>
                <a:spcPts val="0"/>
              </a:spcAft>
              <a:buFont typeface="+mj-lt"/>
              <a:buAutoNum type="arabicPeriod"/>
              <a:tabLst>
                <a:tab pos="342900" algn="l"/>
              </a:tabLst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软件流程图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just">
              <a:lnSpc>
                <a:spcPct val="200000"/>
              </a:lnSpc>
              <a:spcAft>
                <a:spcPts val="0"/>
              </a:spcAft>
              <a:buFont typeface="+mj-lt"/>
              <a:buAutoNum type="arabicPeriod"/>
              <a:tabLst>
                <a:tab pos="342900" algn="l"/>
              </a:tabLst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控制系统框图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  <a:tabLst>
                <a:tab pos="342900" algn="l"/>
              </a:tabLst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源程序（用</a:t>
            </a:r>
            <a:r>
              <a:rPr lang="en-US" altLang="zh-CN" sz="2800" kern="1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Keil</a:t>
            </a: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编写）</a:t>
            </a:r>
            <a:endParaRPr lang="zh-CN" altLang="zh-CN" sz="28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成品要求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7029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6982" y="947688"/>
            <a:ext cx="6876159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实验要求：</a:t>
            </a: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利用实验箱资源完成以下功能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实时温度显示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控制孵化室内温度（灯亮度）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可设定目标温度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需有控制算法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思考：</a:t>
            </a:r>
            <a:endParaRPr lang="en-US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室温传感器、保温灯如何选型</a:t>
            </a: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zh-CN" sz="28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设计题目详解</a:t>
            </a:r>
            <a:r>
              <a:rPr lang="en-US" altLang="zh-CN" dirty="0" smtClean="0"/>
              <a:t>——</a:t>
            </a:r>
            <a:r>
              <a:rPr lang="zh-CN" altLang="en-US" b="1" dirty="0" smtClean="0"/>
              <a:t>题目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：</a:t>
            </a:r>
            <a:r>
              <a:rPr lang="zh-CN" altLang="en-US" b="1" kern="100" dirty="0" smtClean="0"/>
              <a:t>孵化</a:t>
            </a:r>
            <a:r>
              <a:rPr lang="zh-CN" altLang="en-US" b="1" kern="100" dirty="0"/>
              <a:t>室温度控制系统设计</a:t>
            </a:r>
            <a:endParaRPr lang="zh-CN" altLang="en-US" b="1" dirty="0"/>
          </a:p>
        </p:txBody>
      </p:sp>
      <p:grpSp>
        <p:nvGrpSpPr>
          <p:cNvPr id="30" name="组合 29"/>
          <p:cNvGrpSpPr/>
          <p:nvPr/>
        </p:nvGrpSpPr>
        <p:grpSpPr>
          <a:xfrm>
            <a:off x="4010168" y="1950775"/>
            <a:ext cx="7398367" cy="3829196"/>
            <a:chOff x="4591665" y="2738425"/>
            <a:chExt cx="7398367" cy="3829196"/>
          </a:xfrm>
        </p:grpSpPr>
        <p:sp>
          <p:nvSpPr>
            <p:cNvPr id="4" name="矩形 3"/>
            <p:cNvSpPr/>
            <p:nvPr/>
          </p:nvSpPr>
          <p:spPr>
            <a:xfrm>
              <a:off x="4591665" y="4215701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室温</a:t>
              </a:r>
              <a:endPara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传感器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6575408" y="4215701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单片机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0455431" y="4215701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保温灯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575407" y="2738425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显示器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575406" y="5692978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键盘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" name="直接箭头连接符 11"/>
            <p:cNvCxnSpPr>
              <a:stCxn id="7" idx="0"/>
              <a:endCxn id="9" idx="2"/>
            </p:cNvCxnSpPr>
            <p:nvPr/>
          </p:nvCxnSpPr>
          <p:spPr>
            <a:xfrm flipH="1" flipV="1">
              <a:off x="7342708" y="3613068"/>
              <a:ext cx="1" cy="60263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8559151" y="4215701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DA</a:t>
              </a:r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转换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" name="直接箭头连接符 16"/>
            <p:cNvCxnSpPr>
              <a:stCxn id="7" idx="3"/>
              <a:endCxn id="14" idx="1"/>
            </p:cNvCxnSpPr>
            <p:nvPr/>
          </p:nvCxnSpPr>
          <p:spPr>
            <a:xfrm>
              <a:off x="8110009" y="4653023"/>
              <a:ext cx="44914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14" idx="3"/>
              <a:endCxn id="8" idx="1"/>
            </p:cNvCxnSpPr>
            <p:nvPr/>
          </p:nvCxnSpPr>
          <p:spPr>
            <a:xfrm>
              <a:off x="10093752" y="4653023"/>
              <a:ext cx="36167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stCxn id="7" idx="1"/>
              <a:endCxn id="4" idx="3"/>
            </p:cNvCxnSpPr>
            <p:nvPr/>
          </p:nvCxnSpPr>
          <p:spPr>
            <a:xfrm flipH="1">
              <a:off x="6126266" y="4653023"/>
              <a:ext cx="44914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7" idx="2"/>
              <a:endCxn id="10" idx="0"/>
            </p:cNvCxnSpPr>
            <p:nvPr/>
          </p:nvCxnSpPr>
          <p:spPr>
            <a:xfrm flipH="1">
              <a:off x="7342707" y="5090344"/>
              <a:ext cx="2" cy="60263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矩形 30"/>
          <p:cNvSpPr/>
          <p:nvPr/>
        </p:nvSpPr>
        <p:spPr>
          <a:xfrm>
            <a:off x="7856678" y="947688"/>
            <a:ext cx="410022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实验箱资源：</a:t>
            </a:r>
            <a:endParaRPr lang="en-US" altLang="zh-CN" sz="2400" b="1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温度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传感模块、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模块、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模块、显示模块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任选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、按键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任选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7332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6982" y="947688"/>
            <a:ext cx="6876159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实验要求：</a:t>
            </a: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利用实验箱资源完成以下功能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实时温度显示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控制机柜内温度（风扇转速）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可设定目标温度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需有控制算法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思考：</a:t>
            </a:r>
            <a:endParaRPr lang="en-US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温度传感器、风扇如何选型</a:t>
            </a: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zh-CN" sz="28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设计题目详解</a:t>
            </a:r>
            <a:r>
              <a:rPr lang="en-US" altLang="zh-CN" dirty="0" smtClean="0"/>
              <a:t>——</a:t>
            </a:r>
            <a:r>
              <a:rPr lang="zh-CN" altLang="en-US" b="1" dirty="0" smtClean="0"/>
              <a:t>题目</a:t>
            </a:r>
            <a:r>
              <a:rPr lang="en-US" altLang="zh-CN" b="1" dirty="0" smtClean="0"/>
              <a:t>2</a:t>
            </a:r>
            <a:r>
              <a:rPr lang="zh-CN" altLang="en-US" b="1" dirty="0" smtClean="0"/>
              <a:t>：</a:t>
            </a:r>
            <a:r>
              <a:rPr lang="zh-CN" altLang="en-US" b="1" kern="100" dirty="0" smtClean="0"/>
              <a:t>机柜</a:t>
            </a:r>
            <a:r>
              <a:rPr lang="zh-CN" altLang="en-US" b="1" kern="100" dirty="0"/>
              <a:t>温度控制系统设计</a:t>
            </a:r>
            <a:endParaRPr lang="zh-CN" altLang="en-US" b="1" dirty="0"/>
          </a:p>
        </p:txBody>
      </p:sp>
      <p:grpSp>
        <p:nvGrpSpPr>
          <p:cNvPr id="30" name="组合 29"/>
          <p:cNvGrpSpPr/>
          <p:nvPr/>
        </p:nvGrpSpPr>
        <p:grpSpPr>
          <a:xfrm>
            <a:off x="4014369" y="1951392"/>
            <a:ext cx="5502087" cy="3829196"/>
            <a:chOff x="4591665" y="2738425"/>
            <a:chExt cx="5502087" cy="3829196"/>
          </a:xfrm>
        </p:grpSpPr>
        <p:sp>
          <p:nvSpPr>
            <p:cNvPr id="4" name="矩形 3"/>
            <p:cNvSpPr/>
            <p:nvPr/>
          </p:nvSpPr>
          <p:spPr>
            <a:xfrm>
              <a:off x="4591665" y="4215701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温度</a:t>
              </a:r>
              <a:endPara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传感器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6575408" y="4215701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单片机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575407" y="2738425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显示器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575406" y="5692978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键盘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" name="直接箭头连接符 11"/>
            <p:cNvCxnSpPr>
              <a:stCxn id="7" idx="0"/>
              <a:endCxn id="9" idx="2"/>
            </p:cNvCxnSpPr>
            <p:nvPr/>
          </p:nvCxnSpPr>
          <p:spPr>
            <a:xfrm flipH="1" flipV="1">
              <a:off x="7342708" y="3613068"/>
              <a:ext cx="1" cy="60263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8559151" y="4215701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风扇</a:t>
              </a:r>
            </a:p>
          </p:txBody>
        </p:sp>
        <p:cxnSp>
          <p:nvCxnSpPr>
            <p:cNvPr id="17" name="直接箭头连接符 16"/>
            <p:cNvCxnSpPr>
              <a:stCxn id="7" idx="3"/>
              <a:endCxn id="14" idx="1"/>
            </p:cNvCxnSpPr>
            <p:nvPr/>
          </p:nvCxnSpPr>
          <p:spPr>
            <a:xfrm>
              <a:off x="8110009" y="4653023"/>
              <a:ext cx="44914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stCxn id="7" idx="1"/>
              <a:endCxn id="4" idx="3"/>
            </p:cNvCxnSpPr>
            <p:nvPr/>
          </p:nvCxnSpPr>
          <p:spPr>
            <a:xfrm flipH="1">
              <a:off x="6126266" y="4653023"/>
              <a:ext cx="44914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7" idx="2"/>
              <a:endCxn id="10" idx="0"/>
            </p:cNvCxnSpPr>
            <p:nvPr/>
          </p:nvCxnSpPr>
          <p:spPr>
            <a:xfrm flipH="1">
              <a:off x="7342707" y="5090344"/>
              <a:ext cx="2" cy="60263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矩形 17"/>
          <p:cNvSpPr/>
          <p:nvPr/>
        </p:nvSpPr>
        <p:spPr>
          <a:xfrm>
            <a:off x="7856678" y="947688"/>
            <a:ext cx="410022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实验箱资源：</a:t>
            </a:r>
            <a:endParaRPr lang="en-US" altLang="zh-CN" sz="2400" b="1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温度传感模块、步进电机、显示模块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任选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、按键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任选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63883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6982" y="947688"/>
            <a:ext cx="6876159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实验要求：</a:t>
            </a: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利用实验箱资源完成以下功能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实时湿度显示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控制烤箱内湿度（灯亮度）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可设定目标湿度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需有控制算法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思考：</a:t>
            </a:r>
            <a:endParaRPr lang="en-US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湿度传感器、保温灯如何选型</a:t>
            </a: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zh-CN" sz="28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设计题目详解</a:t>
            </a:r>
            <a:r>
              <a:rPr lang="en-US" altLang="zh-CN" dirty="0" smtClean="0"/>
              <a:t>——</a:t>
            </a:r>
            <a:r>
              <a:rPr lang="zh-CN" altLang="en-US" b="1" dirty="0" smtClean="0"/>
              <a:t>题目</a:t>
            </a:r>
            <a:r>
              <a:rPr lang="en-US" altLang="zh-CN" b="1" dirty="0" smtClean="0"/>
              <a:t>3</a:t>
            </a:r>
            <a:r>
              <a:rPr lang="zh-CN" altLang="en-US" b="1" dirty="0" smtClean="0"/>
              <a:t>：</a:t>
            </a:r>
            <a:r>
              <a:rPr lang="zh-CN" altLang="en-US" b="1" kern="100" dirty="0" smtClean="0"/>
              <a:t>烤箱</a:t>
            </a:r>
            <a:r>
              <a:rPr lang="zh-CN" altLang="en-US" b="1" kern="100" dirty="0"/>
              <a:t>湿度控制系统设计</a:t>
            </a:r>
            <a:endParaRPr lang="zh-CN" altLang="en-US" b="1" dirty="0"/>
          </a:p>
        </p:txBody>
      </p:sp>
      <p:grpSp>
        <p:nvGrpSpPr>
          <p:cNvPr id="30" name="组合 29"/>
          <p:cNvGrpSpPr/>
          <p:nvPr/>
        </p:nvGrpSpPr>
        <p:grpSpPr>
          <a:xfrm>
            <a:off x="4011220" y="1951247"/>
            <a:ext cx="7398367" cy="3829196"/>
            <a:chOff x="4591665" y="2738425"/>
            <a:chExt cx="7398367" cy="3829196"/>
          </a:xfrm>
        </p:grpSpPr>
        <p:sp>
          <p:nvSpPr>
            <p:cNvPr id="4" name="矩形 3"/>
            <p:cNvSpPr/>
            <p:nvPr/>
          </p:nvSpPr>
          <p:spPr>
            <a:xfrm>
              <a:off x="4591665" y="4215701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湿度</a:t>
              </a:r>
              <a:endPara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传感器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6575408" y="4215701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单片机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0455431" y="4215701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烘烤灯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575407" y="2738425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显示器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575406" y="5692978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键盘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" name="直接箭头连接符 11"/>
            <p:cNvCxnSpPr>
              <a:stCxn id="7" idx="0"/>
              <a:endCxn id="9" idx="2"/>
            </p:cNvCxnSpPr>
            <p:nvPr/>
          </p:nvCxnSpPr>
          <p:spPr>
            <a:xfrm flipH="1" flipV="1">
              <a:off x="7342708" y="3613068"/>
              <a:ext cx="1" cy="60263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8559151" y="4215701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DA</a:t>
              </a:r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转换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" name="直接箭头连接符 16"/>
            <p:cNvCxnSpPr>
              <a:stCxn id="7" idx="3"/>
              <a:endCxn id="14" idx="1"/>
            </p:cNvCxnSpPr>
            <p:nvPr/>
          </p:nvCxnSpPr>
          <p:spPr>
            <a:xfrm>
              <a:off x="8110009" y="4653023"/>
              <a:ext cx="44914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14" idx="3"/>
              <a:endCxn id="8" idx="1"/>
            </p:cNvCxnSpPr>
            <p:nvPr/>
          </p:nvCxnSpPr>
          <p:spPr>
            <a:xfrm>
              <a:off x="10093752" y="4653023"/>
              <a:ext cx="36167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stCxn id="7" idx="1"/>
              <a:endCxn id="4" idx="3"/>
            </p:cNvCxnSpPr>
            <p:nvPr/>
          </p:nvCxnSpPr>
          <p:spPr>
            <a:xfrm flipH="1">
              <a:off x="6126266" y="4653023"/>
              <a:ext cx="44914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7" idx="2"/>
              <a:endCxn id="10" idx="0"/>
            </p:cNvCxnSpPr>
            <p:nvPr/>
          </p:nvCxnSpPr>
          <p:spPr>
            <a:xfrm flipH="1">
              <a:off x="7342707" y="5090344"/>
              <a:ext cx="2" cy="60263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矩形 17"/>
          <p:cNvSpPr/>
          <p:nvPr/>
        </p:nvSpPr>
        <p:spPr>
          <a:xfrm>
            <a:off x="7856678" y="947688"/>
            <a:ext cx="410022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实验箱资源：</a:t>
            </a:r>
            <a:endParaRPr lang="en-US" altLang="zh-CN" sz="2400" b="1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湿度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传感模块、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模块、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模块、显示模块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任选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、按键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任选</a:t>
            </a:r>
            <a:r>
              <a:rPr lang="en-US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8385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2455" y="947688"/>
            <a:ext cx="6876159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实验要求：</a:t>
            </a: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利用实验箱资源完成以下功能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实时湿度显示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控制粮仓内湿度（风扇转速）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可设定目标湿度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需有控制算法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思考：</a:t>
            </a:r>
            <a:endParaRPr lang="en-US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湿度传感器、通风风扇如何选型</a:t>
            </a: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zh-CN" sz="28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设计题目详解</a:t>
            </a:r>
            <a:r>
              <a:rPr lang="en-US" altLang="zh-CN" dirty="0" smtClean="0"/>
              <a:t>——</a:t>
            </a:r>
            <a:r>
              <a:rPr lang="zh-CN" altLang="en-US" b="1" dirty="0" smtClean="0"/>
              <a:t>题目</a:t>
            </a:r>
            <a:r>
              <a:rPr lang="en-US" altLang="zh-CN" b="1" dirty="0" smtClean="0"/>
              <a:t>4</a:t>
            </a:r>
            <a:r>
              <a:rPr lang="zh-CN" altLang="en-US" b="1" dirty="0" smtClean="0"/>
              <a:t>：</a:t>
            </a:r>
            <a:r>
              <a:rPr lang="zh-CN" altLang="en-US" b="1" kern="100" dirty="0" smtClean="0"/>
              <a:t>粮仓</a:t>
            </a:r>
            <a:r>
              <a:rPr lang="zh-CN" altLang="en-US" b="1" kern="100" dirty="0"/>
              <a:t>湿度控制系统设计</a:t>
            </a:r>
            <a:endParaRPr lang="zh-CN" altLang="en-US" b="1" dirty="0"/>
          </a:p>
        </p:txBody>
      </p:sp>
      <p:grpSp>
        <p:nvGrpSpPr>
          <p:cNvPr id="30" name="组合 29"/>
          <p:cNvGrpSpPr/>
          <p:nvPr/>
        </p:nvGrpSpPr>
        <p:grpSpPr>
          <a:xfrm>
            <a:off x="4019171" y="1949079"/>
            <a:ext cx="5502087" cy="3829196"/>
            <a:chOff x="4591665" y="2738425"/>
            <a:chExt cx="5502087" cy="3829196"/>
          </a:xfrm>
        </p:grpSpPr>
        <p:sp>
          <p:nvSpPr>
            <p:cNvPr id="4" name="矩形 3"/>
            <p:cNvSpPr/>
            <p:nvPr/>
          </p:nvSpPr>
          <p:spPr>
            <a:xfrm>
              <a:off x="4591665" y="4215701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湿度</a:t>
              </a:r>
              <a:endPara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传感器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6575408" y="4215701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单片机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575407" y="2738425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显示器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575406" y="5692978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键盘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" name="直接箭头连接符 11"/>
            <p:cNvCxnSpPr>
              <a:stCxn id="7" idx="0"/>
              <a:endCxn id="9" idx="2"/>
            </p:cNvCxnSpPr>
            <p:nvPr/>
          </p:nvCxnSpPr>
          <p:spPr>
            <a:xfrm flipH="1" flipV="1">
              <a:off x="7342708" y="3613068"/>
              <a:ext cx="1" cy="60263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8559151" y="4215701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通风风扇</a:t>
              </a:r>
            </a:p>
          </p:txBody>
        </p:sp>
        <p:cxnSp>
          <p:nvCxnSpPr>
            <p:cNvPr id="17" name="直接箭头连接符 16"/>
            <p:cNvCxnSpPr>
              <a:stCxn id="7" idx="3"/>
              <a:endCxn id="14" idx="1"/>
            </p:cNvCxnSpPr>
            <p:nvPr/>
          </p:nvCxnSpPr>
          <p:spPr>
            <a:xfrm>
              <a:off x="8110009" y="4653023"/>
              <a:ext cx="44914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stCxn id="7" idx="1"/>
              <a:endCxn id="4" idx="3"/>
            </p:cNvCxnSpPr>
            <p:nvPr/>
          </p:nvCxnSpPr>
          <p:spPr>
            <a:xfrm flipH="1">
              <a:off x="6126266" y="4653023"/>
              <a:ext cx="44914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7" idx="2"/>
              <a:endCxn id="10" idx="0"/>
            </p:cNvCxnSpPr>
            <p:nvPr/>
          </p:nvCxnSpPr>
          <p:spPr>
            <a:xfrm flipH="1">
              <a:off x="7342707" y="5090344"/>
              <a:ext cx="2" cy="60263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矩形 17"/>
          <p:cNvSpPr/>
          <p:nvPr/>
        </p:nvSpPr>
        <p:spPr>
          <a:xfrm>
            <a:off x="7856678" y="947688"/>
            <a:ext cx="410022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实验箱资源：</a:t>
            </a:r>
            <a:endParaRPr lang="en-US" altLang="zh-CN" sz="2400" b="1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湿度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传感模块、步进电机 、显示模块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任选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、按键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任选</a:t>
            </a:r>
            <a:r>
              <a:rPr lang="en-US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3753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6982" y="819803"/>
            <a:ext cx="491694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实验要求：</a:t>
            </a:r>
            <a:endParaRPr lang="en-US" altLang="zh-CN" sz="2800" b="1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利用实验箱资源完成以下功能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实时亮度显示</a:t>
            </a:r>
            <a:r>
              <a:rPr lang="en-US" altLang="zh-CN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电压</a:t>
            </a:r>
            <a:r>
              <a:rPr lang="en-US" altLang="zh-CN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控制日光灯亮度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可设定目标亮度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需有控制算法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思考：</a:t>
            </a:r>
            <a:endParaRPr lang="en-US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光照传感器如何选型</a:t>
            </a: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zh-CN" sz="28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设计题目详解</a:t>
            </a:r>
            <a:r>
              <a:rPr lang="en-US" altLang="zh-CN" dirty="0" smtClean="0"/>
              <a:t>——</a:t>
            </a:r>
            <a:r>
              <a:rPr lang="zh-CN" altLang="en-US" b="1" dirty="0" smtClean="0"/>
              <a:t>题目</a:t>
            </a:r>
            <a:r>
              <a:rPr lang="en-US" altLang="zh-CN" b="1" dirty="0" smtClean="0"/>
              <a:t>5</a:t>
            </a:r>
            <a:r>
              <a:rPr lang="zh-CN" altLang="en-US" b="1" dirty="0" smtClean="0"/>
              <a:t>：</a:t>
            </a:r>
            <a:r>
              <a:rPr lang="zh-CN" altLang="en-US" b="1" kern="100" dirty="0" smtClean="0"/>
              <a:t>室内</a:t>
            </a:r>
            <a:r>
              <a:rPr lang="zh-CN" altLang="en-US" b="1" kern="100" dirty="0"/>
              <a:t>亮度控制系统设计</a:t>
            </a:r>
            <a:endParaRPr lang="zh-CN" altLang="en-US" b="1" dirty="0"/>
          </a:p>
        </p:txBody>
      </p:sp>
      <p:grpSp>
        <p:nvGrpSpPr>
          <p:cNvPr id="33" name="组合 32"/>
          <p:cNvGrpSpPr/>
          <p:nvPr/>
        </p:nvGrpSpPr>
        <p:grpSpPr>
          <a:xfrm>
            <a:off x="3331764" y="819803"/>
            <a:ext cx="5833605" cy="5931235"/>
            <a:chOff x="6248572" y="829653"/>
            <a:chExt cx="5833605" cy="5931235"/>
          </a:xfrm>
        </p:grpSpPr>
        <p:sp>
          <p:nvSpPr>
            <p:cNvPr id="4" name="矩形 3"/>
            <p:cNvSpPr/>
            <p:nvPr/>
          </p:nvSpPr>
          <p:spPr>
            <a:xfrm>
              <a:off x="8398074" y="829653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光照</a:t>
              </a:r>
              <a:endPara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传感器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8398074" y="3357949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单片机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8398074" y="5886245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日光灯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0547576" y="3357947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显示器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248572" y="3357948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键盘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" name="直接箭头连接符 11"/>
            <p:cNvCxnSpPr>
              <a:stCxn id="7" idx="2"/>
              <a:endCxn id="14" idx="0"/>
            </p:cNvCxnSpPr>
            <p:nvPr/>
          </p:nvCxnSpPr>
          <p:spPr>
            <a:xfrm>
              <a:off x="9165375" y="4232592"/>
              <a:ext cx="0" cy="38950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8398074" y="4622097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DA</a:t>
              </a:r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转换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" name="直接箭头连接符 16"/>
            <p:cNvCxnSpPr>
              <a:stCxn id="18" idx="2"/>
              <a:endCxn id="7" idx="0"/>
            </p:cNvCxnSpPr>
            <p:nvPr/>
          </p:nvCxnSpPr>
          <p:spPr>
            <a:xfrm>
              <a:off x="9165375" y="2968444"/>
              <a:ext cx="0" cy="38950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7" idx="3"/>
              <a:endCxn id="9" idx="1"/>
            </p:cNvCxnSpPr>
            <p:nvPr/>
          </p:nvCxnSpPr>
          <p:spPr>
            <a:xfrm flipV="1">
              <a:off x="9932675" y="3795269"/>
              <a:ext cx="614901" cy="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stCxn id="4" idx="2"/>
              <a:endCxn id="18" idx="0"/>
            </p:cNvCxnSpPr>
            <p:nvPr/>
          </p:nvCxnSpPr>
          <p:spPr>
            <a:xfrm>
              <a:off x="9165375" y="1704296"/>
              <a:ext cx="0" cy="38950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14" idx="2"/>
              <a:endCxn id="8" idx="0"/>
            </p:cNvCxnSpPr>
            <p:nvPr/>
          </p:nvCxnSpPr>
          <p:spPr>
            <a:xfrm>
              <a:off x="9165375" y="5496740"/>
              <a:ext cx="0" cy="38950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/>
            <p:cNvSpPr/>
            <p:nvPr/>
          </p:nvSpPr>
          <p:spPr>
            <a:xfrm>
              <a:off x="8398074" y="2093801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</a:t>
              </a:r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转换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8" name="直接箭头连接符 27"/>
            <p:cNvCxnSpPr>
              <a:stCxn id="7" idx="1"/>
              <a:endCxn id="10" idx="3"/>
            </p:cNvCxnSpPr>
            <p:nvPr/>
          </p:nvCxnSpPr>
          <p:spPr>
            <a:xfrm flipH="1" flipV="1">
              <a:off x="7783173" y="3795270"/>
              <a:ext cx="614901" cy="1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矩形 33"/>
          <p:cNvSpPr/>
          <p:nvPr/>
        </p:nvSpPr>
        <p:spPr>
          <a:xfrm>
            <a:off x="7657107" y="821112"/>
            <a:ext cx="421079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实验箱资源：</a:t>
            </a:r>
            <a:endParaRPr lang="en-US" altLang="zh-CN" sz="2400" b="1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手动调压模块、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模块、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模块、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模块、显示模块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任选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、按键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任选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24208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设计题目详解</a:t>
            </a:r>
            <a:r>
              <a:rPr lang="en-US" altLang="zh-CN" dirty="0" smtClean="0"/>
              <a:t>——</a:t>
            </a:r>
            <a:r>
              <a:rPr lang="zh-CN" altLang="en-US" b="1" dirty="0" smtClean="0"/>
              <a:t>题目</a:t>
            </a:r>
            <a:r>
              <a:rPr lang="en-US" altLang="zh-CN" b="1" dirty="0" smtClean="0"/>
              <a:t>6</a:t>
            </a:r>
            <a:r>
              <a:rPr lang="zh-CN" altLang="en-US" b="1" dirty="0" smtClean="0"/>
              <a:t>：</a:t>
            </a:r>
            <a:r>
              <a:rPr lang="zh-CN" altLang="en-US" b="1" kern="100" dirty="0" smtClean="0"/>
              <a:t>自动</a:t>
            </a:r>
            <a:r>
              <a:rPr lang="zh-CN" altLang="en-US" b="1" kern="100" dirty="0"/>
              <a:t>音量调节系统设计</a:t>
            </a:r>
            <a:endParaRPr lang="zh-CN" altLang="en-US" b="1" dirty="0"/>
          </a:p>
        </p:txBody>
      </p:sp>
      <p:sp>
        <p:nvSpPr>
          <p:cNvPr id="18" name="矩形 17"/>
          <p:cNvSpPr/>
          <p:nvPr/>
        </p:nvSpPr>
        <p:spPr>
          <a:xfrm>
            <a:off x="176982" y="821112"/>
            <a:ext cx="687615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实验要求：</a:t>
            </a:r>
            <a:endParaRPr lang="en-US" altLang="zh-CN" sz="2800" b="1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利用实验箱资源完成以下功能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实时分贝显示</a:t>
            </a:r>
            <a:r>
              <a:rPr lang="en-US" altLang="zh-CN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电压</a:t>
            </a:r>
            <a:r>
              <a:rPr lang="en-US" altLang="zh-CN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控制喇叭音量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可设定音量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需有控制算法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思考：</a:t>
            </a:r>
            <a:endParaRPr lang="en-US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声音传感器如何选型</a:t>
            </a: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zh-CN" sz="28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331764" y="821112"/>
            <a:ext cx="5833605" cy="5931235"/>
            <a:chOff x="6248572" y="829653"/>
            <a:chExt cx="5833605" cy="5931235"/>
          </a:xfrm>
        </p:grpSpPr>
        <p:sp>
          <p:nvSpPr>
            <p:cNvPr id="19" name="矩形 18"/>
            <p:cNvSpPr/>
            <p:nvPr/>
          </p:nvSpPr>
          <p:spPr>
            <a:xfrm>
              <a:off x="8398074" y="829653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声音</a:t>
              </a:r>
              <a:endPara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传感器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8398074" y="3357949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单片机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8398074" y="5886245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喇叭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10547576" y="3357947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显示器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6248572" y="3357948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键盘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7" name="直接箭头连接符 26"/>
            <p:cNvCxnSpPr>
              <a:stCxn id="21" idx="2"/>
              <a:endCxn id="28" idx="0"/>
            </p:cNvCxnSpPr>
            <p:nvPr/>
          </p:nvCxnSpPr>
          <p:spPr>
            <a:xfrm>
              <a:off x="9165375" y="4232592"/>
              <a:ext cx="0" cy="38950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/>
            <p:cNvSpPr/>
            <p:nvPr/>
          </p:nvSpPr>
          <p:spPr>
            <a:xfrm>
              <a:off x="8398074" y="4622097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PWM</a:t>
              </a:r>
            </a:p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调制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1" name="直接箭头连接符 30"/>
            <p:cNvCxnSpPr>
              <a:stCxn id="36" idx="2"/>
              <a:endCxn id="21" idx="0"/>
            </p:cNvCxnSpPr>
            <p:nvPr/>
          </p:nvCxnSpPr>
          <p:spPr>
            <a:xfrm>
              <a:off x="9165375" y="2968444"/>
              <a:ext cx="0" cy="38950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stCxn id="21" idx="3"/>
              <a:endCxn id="24" idx="1"/>
            </p:cNvCxnSpPr>
            <p:nvPr/>
          </p:nvCxnSpPr>
          <p:spPr>
            <a:xfrm flipV="1">
              <a:off x="9932675" y="3795269"/>
              <a:ext cx="614901" cy="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19" idx="2"/>
              <a:endCxn id="36" idx="0"/>
            </p:cNvCxnSpPr>
            <p:nvPr/>
          </p:nvCxnSpPr>
          <p:spPr>
            <a:xfrm>
              <a:off x="9165375" y="1704296"/>
              <a:ext cx="0" cy="38950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>
              <a:stCxn id="28" idx="2"/>
              <a:endCxn id="22" idx="0"/>
            </p:cNvCxnSpPr>
            <p:nvPr/>
          </p:nvCxnSpPr>
          <p:spPr>
            <a:xfrm>
              <a:off x="9165375" y="5496740"/>
              <a:ext cx="0" cy="38950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矩形 35"/>
            <p:cNvSpPr/>
            <p:nvPr/>
          </p:nvSpPr>
          <p:spPr>
            <a:xfrm>
              <a:off x="8398074" y="2093801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</a:t>
              </a:r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转换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7" name="直接箭头连接符 36"/>
            <p:cNvCxnSpPr>
              <a:stCxn id="21" idx="1"/>
              <a:endCxn id="25" idx="3"/>
            </p:cNvCxnSpPr>
            <p:nvPr/>
          </p:nvCxnSpPr>
          <p:spPr>
            <a:xfrm flipH="1" flipV="1">
              <a:off x="7783173" y="3795270"/>
              <a:ext cx="614901" cy="1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矩形 37"/>
          <p:cNvSpPr/>
          <p:nvPr/>
        </p:nvSpPr>
        <p:spPr>
          <a:xfrm>
            <a:off x="7657107" y="821112"/>
            <a:ext cx="421079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实验箱资源：</a:t>
            </a:r>
            <a:endParaRPr lang="en-US" altLang="zh-CN" sz="2400" b="1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手动调压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模块、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</a:t>
            </a:r>
            <a:r>
              <a:rPr lang="zh-CN" altLang="en-US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模块、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蜂鸣器模块、显示模块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任选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、按键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任选</a:t>
            </a:r>
            <a:r>
              <a:rPr lang="en-US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1981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设计题目详解</a:t>
            </a:r>
            <a:r>
              <a:rPr lang="en-US" altLang="zh-CN" dirty="0" smtClean="0"/>
              <a:t>——</a:t>
            </a:r>
            <a:r>
              <a:rPr lang="zh-CN" altLang="en-US" b="1" dirty="0" smtClean="0"/>
              <a:t>题目</a:t>
            </a:r>
            <a:r>
              <a:rPr lang="en-US" altLang="zh-CN" b="1" dirty="0" smtClean="0"/>
              <a:t>7</a:t>
            </a:r>
            <a:r>
              <a:rPr lang="zh-CN" altLang="en-US" b="1" dirty="0" smtClean="0"/>
              <a:t>：</a:t>
            </a:r>
            <a:r>
              <a:rPr lang="zh-CN" altLang="en-US" b="1" kern="100" dirty="0" smtClean="0"/>
              <a:t>定</a:t>
            </a:r>
            <a:r>
              <a:rPr lang="zh-CN" altLang="en-US" b="1" kern="100" dirty="0"/>
              <a:t>速巡航小车设计</a:t>
            </a:r>
            <a:endParaRPr lang="zh-CN" altLang="en-US" b="1" dirty="0"/>
          </a:p>
        </p:txBody>
      </p:sp>
      <p:sp>
        <p:nvSpPr>
          <p:cNvPr id="18" name="矩形 17"/>
          <p:cNvSpPr/>
          <p:nvPr/>
        </p:nvSpPr>
        <p:spPr>
          <a:xfrm>
            <a:off x="176982" y="829653"/>
            <a:ext cx="687615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实验要求：</a:t>
            </a:r>
            <a:endParaRPr lang="en-US" altLang="zh-CN" sz="2800" b="1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利用实验箱资源完成以下功能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实时车速显示</a:t>
            </a:r>
            <a:r>
              <a:rPr lang="en-US" altLang="zh-CN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电压</a:t>
            </a:r>
            <a:r>
              <a:rPr lang="en-US" altLang="zh-CN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控制电机转速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可设定目标车速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需有控制算法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思考：</a:t>
            </a:r>
            <a:endParaRPr lang="en-US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速度传感器、电机如何选型</a:t>
            </a:r>
            <a:r>
              <a:rPr lang="zh-CN" altLang="en-US" sz="28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zh-CN" sz="28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331764" y="821112"/>
            <a:ext cx="5833605" cy="4667087"/>
            <a:chOff x="6248572" y="829653"/>
            <a:chExt cx="5833605" cy="4667087"/>
          </a:xfrm>
        </p:grpSpPr>
        <p:sp>
          <p:nvSpPr>
            <p:cNvPr id="19" name="矩形 18"/>
            <p:cNvSpPr/>
            <p:nvPr/>
          </p:nvSpPr>
          <p:spPr>
            <a:xfrm>
              <a:off x="8398074" y="829653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速度</a:t>
              </a:r>
              <a:endPara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传感器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8398074" y="3357949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单片机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10547576" y="3357947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显示器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6248572" y="3357948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键盘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7" name="直接箭头连接符 26"/>
            <p:cNvCxnSpPr>
              <a:stCxn id="21" idx="2"/>
              <a:endCxn id="28" idx="0"/>
            </p:cNvCxnSpPr>
            <p:nvPr/>
          </p:nvCxnSpPr>
          <p:spPr>
            <a:xfrm>
              <a:off x="9165375" y="4232592"/>
              <a:ext cx="0" cy="38950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/>
            <p:cNvSpPr/>
            <p:nvPr/>
          </p:nvSpPr>
          <p:spPr>
            <a:xfrm>
              <a:off x="8398074" y="4622097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电机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1" name="直接箭头连接符 30"/>
            <p:cNvCxnSpPr>
              <a:stCxn id="36" idx="2"/>
              <a:endCxn id="21" idx="0"/>
            </p:cNvCxnSpPr>
            <p:nvPr/>
          </p:nvCxnSpPr>
          <p:spPr>
            <a:xfrm>
              <a:off x="9165375" y="2968444"/>
              <a:ext cx="0" cy="38950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stCxn id="21" idx="3"/>
              <a:endCxn id="24" idx="1"/>
            </p:cNvCxnSpPr>
            <p:nvPr/>
          </p:nvCxnSpPr>
          <p:spPr>
            <a:xfrm flipV="1">
              <a:off x="9932675" y="3795269"/>
              <a:ext cx="614901" cy="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19" idx="2"/>
              <a:endCxn id="36" idx="0"/>
            </p:cNvCxnSpPr>
            <p:nvPr/>
          </p:nvCxnSpPr>
          <p:spPr>
            <a:xfrm>
              <a:off x="9165375" y="1704296"/>
              <a:ext cx="0" cy="38950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矩形 35"/>
            <p:cNvSpPr/>
            <p:nvPr/>
          </p:nvSpPr>
          <p:spPr>
            <a:xfrm>
              <a:off x="8398074" y="2093801"/>
              <a:ext cx="1534601" cy="8746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</a:t>
              </a:r>
              <a:r>
                <a:rPr lang="zh-CN" altLang="en-US" sz="24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转换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7" name="直接箭头连接符 36"/>
            <p:cNvCxnSpPr>
              <a:stCxn id="21" idx="1"/>
              <a:endCxn id="25" idx="3"/>
            </p:cNvCxnSpPr>
            <p:nvPr/>
          </p:nvCxnSpPr>
          <p:spPr>
            <a:xfrm flipH="1" flipV="1">
              <a:off x="7783173" y="3795270"/>
              <a:ext cx="614901" cy="1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矩形 38"/>
          <p:cNvSpPr/>
          <p:nvPr/>
        </p:nvSpPr>
        <p:spPr>
          <a:xfrm>
            <a:off x="7657107" y="821112"/>
            <a:ext cx="421079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实验箱资源：</a:t>
            </a:r>
            <a:endParaRPr lang="en-US" altLang="zh-CN" sz="2400" b="1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手动调压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模块、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模块、步进电机、显示模块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任选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、按键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任选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>
              <a:lnSpc>
                <a:spcPct val="150000"/>
              </a:lnSpc>
            </a:pPr>
            <a:endParaRPr lang="en-US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6632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设计题目详解</a:t>
            </a:r>
            <a:r>
              <a:rPr lang="en-US" altLang="zh-CN" dirty="0" smtClean="0"/>
              <a:t>——</a:t>
            </a:r>
            <a:r>
              <a:rPr lang="zh-CN" altLang="en-US" b="1" dirty="0" smtClean="0"/>
              <a:t>传感器选型</a:t>
            </a:r>
            <a:endParaRPr lang="zh-CN" altLang="en-US" b="1" dirty="0"/>
          </a:p>
        </p:txBody>
      </p:sp>
      <p:sp>
        <p:nvSpPr>
          <p:cNvPr id="20" name="标题 1"/>
          <p:cNvSpPr txBox="1">
            <a:spLocks/>
          </p:cNvSpPr>
          <p:nvPr/>
        </p:nvSpPr>
        <p:spPr>
          <a:xfrm>
            <a:off x="176982" y="970216"/>
            <a:ext cx="9132671" cy="500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200" b="1" kern="100" dirty="0" smtClean="0"/>
              <a:t>养鸡场室内温度测量</a:t>
            </a:r>
            <a:r>
              <a:rPr lang="zh-CN" altLang="en-US" sz="3200" kern="100" dirty="0" smtClean="0"/>
              <a:t>时，温度传感器如何选型？</a:t>
            </a:r>
            <a:endParaRPr lang="zh-CN" altLang="en-US" sz="3200" dirty="0"/>
          </a:p>
        </p:txBody>
      </p:sp>
      <p:sp>
        <p:nvSpPr>
          <p:cNvPr id="3" name="矩形 2"/>
          <p:cNvSpPr/>
          <p:nvPr/>
        </p:nvSpPr>
        <p:spPr>
          <a:xfrm>
            <a:off x="5666578" y="5860567"/>
            <a:ext cx="1415772" cy="7439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体温计</a:t>
            </a:r>
            <a:endParaRPr lang="en-US" altLang="zh-CN" sz="32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https://img1.baidu.com/it/u=790267250,3636766168&amp;fm=253&amp;fmt=auto&amp;app=138&amp;f=JPEG?w=500&amp;h=667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95" b="92504" l="7800" r="87800">
                        <a14:foregroundMark x1="19800" y1="14543" x2="75400" y2="923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892" y="1604291"/>
            <a:ext cx="2915143" cy="388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11" y="1604291"/>
            <a:ext cx="1340875" cy="4200931"/>
          </a:xfrm>
          <a:prstGeom prst="rect">
            <a:avLst/>
          </a:prstGeom>
        </p:spPr>
      </p:pic>
      <p:pic>
        <p:nvPicPr>
          <p:cNvPr id="1028" name="Picture 4" descr="https://img.tukuppt.com/png_preview/00/31/15/SeFU7ZxM2w.jpg%21/fw/780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167" b="97500" l="9957" r="93939">
                        <a14:foregroundMark x1="83117" y1="24167" x2="85281" y2="25417"/>
                        <a14:foregroundMark x1="75758" y1="40417" x2="75758" y2="404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1042" y="2086185"/>
            <a:ext cx="2821411" cy="293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矩形 25"/>
          <p:cNvSpPr/>
          <p:nvPr/>
        </p:nvSpPr>
        <p:spPr>
          <a:xfrm>
            <a:off x="339703" y="5805222"/>
            <a:ext cx="1478290" cy="7439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18B20</a:t>
            </a:r>
            <a:endParaRPr lang="en-US" altLang="zh-CN" sz="32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775761" y="1604291"/>
            <a:ext cx="3299620" cy="4465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传感器选型依据：</a:t>
            </a:r>
            <a:endParaRPr lang="en-US" altLang="zh-CN" sz="2400" b="1" dirty="0" smtClean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测量</a:t>
            </a:r>
            <a:r>
              <a:rPr lang="zh-CN" altLang="en-US" sz="2400" b="1" dirty="0">
                <a:solidFill>
                  <a:srgbClr val="222222"/>
                </a:solidFill>
                <a:latin typeface="arial" panose="020B0604020202020204" pitchFamily="34" charset="0"/>
              </a:rPr>
              <a:t>对象和</a:t>
            </a:r>
            <a:r>
              <a:rPr lang="zh-CN" altLang="en-US" sz="2400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范围</a:t>
            </a:r>
            <a:endParaRPr lang="en-US" altLang="zh-CN" sz="2400" dirty="0" smtClean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精度</a:t>
            </a:r>
            <a:r>
              <a:rPr lang="zh-CN" altLang="en-US" sz="2400" b="1" dirty="0">
                <a:solidFill>
                  <a:srgbClr val="222222"/>
                </a:solidFill>
                <a:latin typeface="arial" panose="020B0604020202020204" pitchFamily="34" charset="0"/>
              </a:rPr>
              <a:t>和</a:t>
            </a:r>
            <a:r>
              <a:rPr lang="zh-CN" altLang="en-US" sz="2400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分辨率</a:t>
            </a:r>
            <a:endParaRPr lang="en-US" altLang="zh-CN" sz="2400" dirty="0" smtClean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响应时间</a:t>
            </a:r>
            <a:r>
              <a:rPr lang="zh-CN" altLang="en-US" sz="2400" b="1" dirty="0">
                <a:solidFill>
                  <a:srgbClr val="222222"/>
                </a:solidFill>
                <a:latin typeface="arial" panose="020B0604020202020204" pitchFamily="34" charset="0"/>
              </a:rPr>
              <a:t>和</a:t>
            </a:r>
            <a:r>
              <a:rPr lang="zh-CN" altLang="en-US" sz="2400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带宽</a:t>
            </a:r>
            <a:endParaRPr lang="en-US" altLang="zh-CN" sz="2400" dirty="0" smtClean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工作环境</a:t>
            </a:r>
            <a:endParaRPr lang="en-US" altLang="zh-CN" sz="2400" dirty="0" smtClean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尺寸</a:t>
            </a:r>
            <a:r>
              <a:rPr lang="zh-CN" altLang="en-US" sz="2400" b="1" dirty="0">
                <a:solidFill>
                  <a:srgbClr val="222222"/>
                </a:solidFill>
                <a:latin typeface="arial" panose="020B0604020202020204" pitchFamily="34" charset="0"/>
              </a:rPr>
              <a:t>和安装</a:t>
            </a:r>
            <a:r>
              <a:rPr lang="zh-CN" altLang="en-US" sz="2400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方式</a:t>
            </a:r>
            <a:endParaRPr lang="en-US" altLang="zh-CN" sz="2400" dirty="0" smtClean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输出信号类型</a:t>
            </a:r>
            <a:endParaRPr lang="en-US" altLang="zh-CN" sz="2400" dirty="0" smtClean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成本</a:t>
            </a:r>
            <a:r>
              <a:rPr lang="zh-CN" altLang="en-US" sz="2400" b="1" dirty="0">
                <a:solidFill>
                  <a:srgbClr val="222222"/>
                </a:solidFill>
                <a:latin typeface="arial" panose="020B0604020202020204" pitchFamily="34" charset="0"/>
              </a:rPr>
              <a:t>和</a:t>
            </a:r>
            <a:r>
              <a:rPr lang="zh-CN" altLang="en-US" sz="2400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可用性</a:t>
            </a:r>
            <a:endParaRPr lang="zh-CN" altLang="en-US" sz="2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881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设计题目详解</a:t>
            </a:r>
            <a:r>
              <a:rPr lang="en-US" altLang="zh-CN" dirty="0" smtClean="0"/>
              <a:t>——</a:t>
            </a:r>
            <a:r>
              <a:rPr lang="zh-CN" altLang="en-US" b="1" dirty="0" smtClean="0"/>
              <a:t>执行器选型</a:t>
            </a:r>
            <a:endParaRPr lang="zh-CN" altLang="en-US" b="1" dirty="0"/>
          </a:p>
        </p:txBody>
      </p:sp>
      <p:sp>
        <p:nvSpPr>
          <p:cNvPr id="20" name="标题 1"/>
          <p:cNvSpPr txBox="1">
            <a:spLocks/>
          </p:cNvSpPr>
          <p:nvPr/>
        </p:nvSpPr>
        <p:spPr>
          <a:xfrm>
            <a:off x="0" y="1165906"/>
            <a:ext cx="12192000" cy="500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3200" b="1" kern="100" dirty="0" smtClean="0"/>
              <a:t>孵化室内的加热元件</a:t>
            </a:r>
            <a:r>
              <a:rPr lang="zh-CN" altLang="en-US" sz="3200" kern="100" dirty="0" smtClean="0"/>
              <a:t>如何选型？</a:t>
            </a:r>
            <a:endParaRPr lang="zh-CN" altLang="en-US" sz="3200" dirty="0"/>
          </a:p>
        </p:txBody>
      </p:sp>
      <p:sp>
        <p:nvSpPr>
          <p:cNvPr id="3" name="矩形 2"/>
          <p:cNvSpPr/>
          <p:nvPr/>
        </p:nvSpPr>
        <p:spPr>
          <a:xfrm>
            <a:off x="8746424" y="5114225"/>
            <a:ext cx="1107996" cy="5810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燃气灶</a:t>
            </a:r>
            <a:endParaRPr lang="en-US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771966" y="5114225"/>
            <a:ext cx="1723549" cy="5810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卤素保温灯</a:t>
            </a:r>
            <a:endParaRPr lang="en-US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854" y="2102927"/>
            <a:ext cx="3017775" cy="2758951"/>
          </a:xfrm>
          <a:prstGeom prst="rect">
            <a:avLst/>
          </a:prstGeom>
        </p:spPr>
      </p:pic>
      <p:pic>
        <p:nvPicPr>
          <p:cNvPr id="2052" name="Picture 4" descr="https://img95.699pic.com/xsj/1w/u9/3e.jpg%21/fh/3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428" y="2742737"/>
            <a:ext cx="1834727" cy="1834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gimg2.baidu.com/image_search/src=http%3A%2F%2Fimg.alicdn.com%2Fi4%2F4172910092%2FO1CN01h4XkQQ1CYAyv8kOXg_%21%214172910092.jpg&amp;refer=http%3A%2F%2Fimg.alicdn.com&amp;app=2002&amp;size=f9999,10000&amp;q=a80&amp;n=0&amp;g=0n&amp;fmt=auto?sec=1715323517&amp;t=e515168a8fd627399b383d257d4a3a0b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600" y="1850581"/>
            <a:ext cx="3263644" cy="3263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4591665" y="5695282"/>
            <a:ext cx="3057247" cy="6699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根据实际情况选取</a:t>
            </a:r>
            <a:endParaRPr lang="en-US" altLang="zh-CN" sz="2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207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设计题目详解</a:t>
            </a:r>
            <a:r>
              <a:rPr lang="en-US" altLang="zh-CN" dirty="0" smtClean="0"/>
              <a:t>——</a:t>
            </a:r>
            <a:r>
              <a:rPr lang="zh-CN" altLang="en-US" b="1" dirty="0" smtClean="0"/>
              <a:t>控制算法选择</a:t>
            </a:r>
            <a:endParaRPr lang="zh-CN" altLang="en-US" b="1" dirty="0"/>
          </a:p>
        </p:txBody>
      </p:sp>
      <p:sp>
        <p:nvSpPr>
          <p:cNvPr id="4" name="矩形 3"/>
          <p:cNvSpPr/>
          <p:nvPr/>
        </p:nvSpPr>
        <p:spPr>
          <a:xfrm>
            <a:off x="176981" y="950860"/>
            <a:ext cx="712231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1. </a:t>
            </a:r>
            <a:r>
              <a:rPr lang="zh-CN" altLang="en-US" sz="2400" b="1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稳定性：</a:t>
            </a:r>
            <a:r>
              <a:rPr lang="zh-CN" altLang="en-US" sz="2400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en-US" sz="2400" dirty="0" smtClean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r>
              <a:rPr lang="zh-CN" altLang="en-US" sz="2400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算法的选择应该能够维持系统在各种操作条件下的稳定性，防止不稳定振荡或震荡。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2. </a:t>
            </a:r>
            <a:r>
              <a:rPr lang="zh-CN" altLang="en-US" sz="2400" b="1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快速响应：</a:t>
            </a:r>
            <a:r>
              <a:rPr lang="zh-CN" altLang="en-US" sz="2400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一些应用要求系统对输入变化迅速做出响应，以维持输出在稳定值附近</a:t>
            </a:r>
            <a:r>
              <a:rPr lang="zh-CN" altLang="en-US" sz="2400" dirty="0" smtClean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srgbClr val="191B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 </a:t>
            </a:r>
            <a:r>
              <a:rPr lang="zh-CN" altLang="en-US" sz="2400" b="1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精确性：</a:t>
            </a:r>
            <a:r>
              <a:rPr lang="zh-CN" altLang="en-US" sz="2400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控制算法应能够确保输出与期望值之间的误差最小化</a:t>
            </a:r>
            <a:r>
              <a:rPr lang="zh-CN" altLang="en-US" sz="2400" dirty="0" smtClean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srgbClr val="191B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400" b="1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 </a:t>
            </a:r>
            <a:r>
              <a:rPr lang="zh-CN" altLang="en-US" sz="2400" b="1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抗干扰性：</a:t>
            </a:r>
            <a:r>
              <a:rPr lang="zh-CN" altLang="en-US" sz="2400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在电力系统中，常常受到各种干扰，例如电磁干扰、载波干扰等</a:t>
            </a:r>
            <a:r>
              <a:rPr lang="zh-CN" altLang="en-US" sz="2400" dirty="0" smtClean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srgbClr val="191B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2400" b="1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 </a:t>
            </a:r>
            <a:r>
              <a:rPr lang="zh-CN" altLang="en-US" sz="2400" b="1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效率：</a:t>
            </a:r>
            <a:r>
              <a:rPr lang="zh-CN" altLang="en-US" sz="2400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控制算法的复杂度和计算成本也是考虑的因素</a:t>
            </a:r>
            <a:r>
              <a:rPr lang="zh-CN" altLang="en-US" sz="2400" dirty="0" smtClean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b="0" i="0" dirty="0">
              <a:solidFill>
                <a:srgbClr val="191B1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593496" y="830803"/>
            <a:ext cx="422214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zh-CN" altLang="en-US" sz="24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思考：</a:t>
            </a:r>
            <a:endParaRPr lang="en-US" altLang="zh-CN" sz="2400" b="1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200000"/>
              </a:lnSpc>
            </a:pPr>
            <a:r>
              <a:rPr lang="zh-CN" altLang="en-US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汽车速度控制系统响应时间为</a:t>
            </a:r>
            <a:r>
              <a:rPr lang="en-US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分钟，是否可行？</a:t>
            </a:r>
            <a:endParaRPr lang="en-US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4" name="Picture 2" descr="https://img2.autotimes.com.cn/news/2021/07/0713_201231119687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242" y="3260034"/>
            <a:ext cx="4142648" cy="2731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2821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实验箱操作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准备工作</a:t>
            </a:r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176982" y="738091"/>
            <a:ext cx="17609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zh-CN" altLang="en-US" sz="24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连接线清点：</a:t>
            </a:r>
            <a:endParaRPr lang="en-US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272" y="1531887"/>
            <a:ext cx="9590109" cy="52665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331499" y="872656"/>
            <a:ext cx="91775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排线</a:t>
            </a:r>
            <a:r>
              <a:rPr lang="en-US" altLang="zh-CN" sz="2000" b="1" dirty="0" smtClean="0"/>
              <a:t>×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4</a:t>
            </a:r>
            <a:r>
              <a:rPr lang="en-US" altLang="zh-CN" sz="2000" b="1" dirty="0" smtClean="0"/>
              <a:t>      </a:t>
            </a:r>
            <a:r>
              <a:rPr lang="zh-CN" altLang="en-US" sz="2000" b="1" dirty="0" smtClean="0"/>
              <a:t>数据线</a:t>
            </a:r>
            <a:r>
              <a:rPr lang="en-US" altLang="zh-CN" sz="2000" b="1" dirty="0" smtClean="0"/>
              <a:t>×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1</a:t>
            </a:r>
            <a:r>
              <a:rPr lang="en-US" altLang="zh-CN" sz="2000" b="1" dirty="0" smtClean="0"/>
              <a:t>     </a:t>
            </a:r>
            <a:r>
              <a:rPr lang="zh-CN" altLang="en-US" sz="2000" b="1" dirty="0" smtClean="0"/>
              <a:t>黄色连接线</a:t>
            </a:r>
            <a:r>
              <a:rPr lang="en-US" altLang="zh-CN" sz="2000" b="1" dirty="0" smtClean="0"/>
              <a:t>×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16 </a:t>
            </a:r>
            <a:r>
              <a:rPr lang="en-US" altLang="zh-CN" sz="2000" b="1" dirty="0" smtClean="0"/>
              <a:t>       </a:t>
            </a:r>
            <a:r>
              <a:rPr lang="zh-CN" altLang="en-US" sz="2000" b="1" dirty="0" smtClean="0"/>
              <a:t>绿色连接线</a:t>
            </a:r>
            <a:r>
              <a:rPr lang="en-US" altLang="zh-CN" sz="2000" b="1" dirty="0" smtClean="0"/>
              <a:t>×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10</a:t>
            </a:r>
            <a:r>
              <a:rPr lang="en-US" altLang="zh-CN" sz="2000" b="1" dirty="0" smtClean="0"/>
              <a:t>        </a:t>
            </a:r>
            <a:r>
              <a:rPr lang="zh-CN" altLang="en-US" sz="2000" b="1" dirty="0" smtClean="0"/>
              <a:t>红色连接线</a:t>
            </a:r>
            <a:r>
              <a:rPr lang="en-US" altLang="zh-CN" sz="2000" b="1" dirty="0" smtClean="0"/>
              <a:t>×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2</a:t>
            </a:r>
            <a:r>
              <a:rPr lang="en-US" altLang="zh-CN" sz="2000" b="1" dirty="0" smtClean="0"/>
              <a:t> </a:t>
            </a:r>
          </a:p>
          <a:p>
            <a:r>
              <a:rPr lang="en-US" altLang="zh-CN" sz="2000" b="1" dirty="0"/>
              <a:t>	</a:t>
            </a:r>
            <a:r>
              <a:rPr lang="en-US" altLang="zh-CN" sz="2000" b="1" dirty="0" smtClean="0"/>
              <a:t>						            </a:t>
            </a:r>
            <a:r>
              <a:rPr lang="zh-CN" altLang="en-US" sz="2000" b="1" dirty="0" smtClean="0"/>
              <a:t>黑色连接线</a:t>
            </a:r>
            <a:r>
              <a:rPr lang="en-US" altLang="zh-CN" sz="2000" b="1" dirty="0" smtClean="0"/>
              <a:t>×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2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9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实验箱操作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准备工作</a:t>
            </a:r>
            <a:endParaRPr lang="zh-CN" altLang="en-US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528" y="1416336"/>
            <a:ext cx="2198750" cy="164906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76982" y="773335"/>
            <a:ext cx="2528256" cy="5810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、打开电源开关</a:t>
            </a:r>
            <a:endParaRPr lang="en-US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30" y="4278806"/>
            <a:ext cx="3274143" cy="2455607"/>
          </a:xfrm>
          <a:prstGeom prst="rect">
            <a:avLst/>
          </a:prstGeom>
        </p:spPr>
      </p:pic>
      <p:sp>
        <p:nvSpPr>
          <p:cNvPr id="8" name="下箭头 7"/>
          <p:cNvSpPr/>
          <p:nvPr/>
        </p:nvSpPr>
        <p:spPr>
          <a:xfrm>
            <a:off x="1604068" y="3224927"/>
            <a:ext cx="1033669" cy="894351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2821" y="3996019"/>
            <a:ext cx="3651193" cy="273839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67" r="25631"/>
          <a:stretch/>
        </p:blipFill>
        <p:spPr>
          <a:xfrm rot="16200000">
            <a:off x="9030860" y="984777"/>
            <a:ext cx="1065475" cy="2512179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4943951" y="770005"/>
            <a:ext cx="22204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、连接烧录器</a:t>
            </a:r>
            <a:endParaRPr lang="en-US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36853" y="1673871"/>
            <a:ext cx="1847152" cy="1200329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zh-CN" altLang="en-US" sz="24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</a:t>
            </a:r>
            <a:endParaRPr lang="en-US" altLang="zh-CN" sz="2400" b="1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USB</a:t>
            </a:r>
            <a:r>
              <a:rPr lang="zh-CN" altLang="en-US" sz="24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endParaRPr lang="en-US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下箭头 13"/>
          <p:cNvSpPr/>
          <p:nvPr/>
        </p:nvSpPr>
        <p:spPr>
          <a:xfrm>
            <a:off x="9046764" y="2931579"/>
            <a:ext cx="1033669" cy="894351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940118" y="1692226"/>
            <a:ext cx="697619" cy="9396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9214790" y="3901461"/>
            <a:ext cx="697619" cy="6872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左箭头 16"/>
          <p:cNvSpPr/>
          <p:nvPr/>
        </p:nvSpPr>
        <p:spPr>
          <a:xfrm>
            <a:off x="7426021" y="1582271"/>
            <a:ext cx="739471" cy="1383527"/>
          </a:xfrm>
          <a:prstGeom prst="lef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5607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实验箱操作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编程</a:t>
            </a:r>
            <a:endParaRPr lang="zh-CN" altLang="en-US" b="1" dirty="0"/>
          </a:p>
        </p:txBody>
      </p:sp>
      <p:pic>
        <p:nvPicPr>
          <p:cNvPr id="12" name="图片 11"/>
          <p:cNvPicPr/>
          <p:nvPr/>
        </p:nvPicPr>
        <p:blipFill>
          <a:blip r:embed="rId2"/>
          <a:stretch>
            <a:fillRect/>
          </a:stretch>
        </p:blipFill>
        <p:spPr>
          <a:xfrm>
            <a:off x="737832" y="2373244"/>
            <a:ext cx="2760741" cy="2862910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3"/>
          <a:stretch>
            <a:fillRect/>
          </a:stretch>
        </p:blipFill>
        <p:spPr>
          <a:xfrm>
            <a:off x="4158033" y="1625133"/>
            <a:ext cx="7355335" cy="435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896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/>
          <p:nvPr/>
        </p:nvPicPr>
        <p:blipFill rotWithShape="1">
          <a:blip r:embed="rId2"/>
          <a:srcRect l="5755" t="8406" r="19309" b="22854"/>
          <a:stretch/>
        </p:blipFill>
        <p:spPr>
          <a:xfrm>
            <a:off x="1691455" y="985379"/>
            <a:ext cx="9000000" cy="5400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实验箱操作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编程</a:t>
            </a:r>
            <a:endParaRPr lang="zh-CN" altLang="en-US" b="1" dirty="0"/>
          </a:p>
        </p:txBody>
      </p:sp>
      <p:sp>
        <p:nvSpPr>
          <p:cNvPr id="9" name="矩形 8"/>
          <p:cNvSpPr/>
          <p:nvPr/>
        </p:nvSpPr>
        <p:spPr>
          <a:xfrm>
            <a:off x="3158214" y="1737018"/>
            <a:ext cx="1107996" cy="458908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just" latinLnBrk="1">
              <a:lnSpc>
                <a:spcPct val="150000"/>
              </a:lnSpc>
            </a:pP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76286" y="1185372"/>
            <a:ext cx="2471853" cy="4045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777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实验箱操作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编程</a:t>
            </a:r>
            <a:endParaRPr lang="zh-CN" altLang="en-US" b="1" dirty="0"/>
          </a:p>
        </p:txBody>
      </p:sp>
      <p:pic>
        <p:nvPicPr>
          <p:cNvPr id="7" name="图片 6"/>
          <p:cNvPicPr/>
          <p:nvPr/>
        </p:nvPicPr>
        <p:blipFill rotWithShape="1">
          <a:blip r:embed="rId2"/>
          <a:srcRect l="5865" t="8380" r="19311" b="22476"/>
          <a:stretch/>
        </p:blipFill>
        <p:spPr>
          <a:xfrm>
            <a:off x="197205" y="900982"/>
            <a:ext cx="9000000" cy="5400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569592" y="3082208"/>
            <a:ext cx="1190645" cy="18630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6700" y="2069276"/>
            <a:ext cx="4554314" cy="3415734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9507894" y="3326417"/>
            <a:ext cx="438538" cy="6872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351672" y="2602978"/>
            <a:ext cx="190779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atinLnBrk="1"/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选择单片机型号</a:t>
            </a:r>
            <a:endParaRPr lang="zh-CN" altLang="en-US" b="1" i="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左箭头 11"/>
          <p:cNvSpPr/>
          <p:nvPr/>
        </p:nvSpPr>
        <p:spPr>
          <a:xfrm>
            <a:off x="4002162" y="3312154"/>
            <a:ext cx="5090409" cy="615379"/>
          </a:xfrm>
          <a:prstGeom prst="lef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108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实验箱操作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编程</a:t>
            </a:r>
            <a:endParaRPr lang="zh-CN" altLang="en-US" b="1" dirty="0"/>
          </a:p>
        </p:txBody>
      </p:sp>
      <p:pic>
        <p:nvPicPr>
          <p:cNvPr id="8" name="图片 7"/>
          <p:cNvPicPr/>
          <p:nvPr/>
        </p:nvPicPr>
        <p:blipFill rotWithShape="1">
          <a:blip r:embed="rId2"/>
          <a:srcRect l="5714" t="8642" r="19100" b="22795"/>
          <a:stretch/>
        </p:blipFill>
        <p:spPr>
          <a:xfrm>
            <a:off x="1371600" y="914398"/>
            <a:ext cx="9507894" cy="571033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372808" y="4061922"/>
            <a:ext cx="681135" cy="2861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62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实验箱操作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编程</a:t>
            </a:r>
            <a:endParaRPr lang="zh-CN" altLang="en-US" b="1" dirty="0"/>
          </a:p>
        </p:txBody>
      </p:sp>
      <p:pic>
        <p:nvPicPr>
          <p:cNvPr id="7" name="图片 6"/>
          <p:cNvPicPr/>
          <p:nvPr/>
        </p:nvPicPr>
        <p:blipFill rotWithShape="1">
          <a:blip r:embed="rId2"/>
          <a:srcRect l="5990" t="8415" r="19332" b="22394"/>
          <a:stretch/>
        </p:blipFill>
        <p:spPr>
          <a:xfrm>
            <a:off x="514187" y="867746"/>
            <a:ext cx="10971797" cy="5738327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39267" y="1632005"/>
            <a:ext cx="112246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atinLnBrk="1"/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新建文件</a:t>
            </a:r>
            <a:endParaRPr lang="zh-CN" altLang="en-US" b="1" i="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14187" y="1076127"/>
            <a:ext cx="2098384" cy="4634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149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 rotWithShape="1">
          <a:blip r:embed="rId2"/>
          <a:srcRect l="5874" t="8435" r="19317" b="22390"/>
          <a:stretch/>
        </p:blipFill>
        <p:spPr>
          <a:xfrm>
            <a:off x="616824" y="933060"/>
            <a:ext cx="10626564" cy="56916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实验箱操作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编程</a:t>
            </a:r>
            <a:endParaRPr lang="zh-CN" altLang="en-US" b="1" dirty="0"/>
          </a:p>
        </p:txBody>
      </p:sp>
      <p:sp>
        <p:nvSpPr>
          <p:cNvPr id="8" name="矩形 7"/>
          <p:cNvSpPr/>
          <p:nvPr/>
        </p:nvSpPr>
        <p:spPr>
          <a:xfrm>
            <a:off x="1255089" y="1545675"/>
            <a:ext cx="112246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atinLnBrk="1"/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保存文件</a:t>
            </a:r>
            <a:endParaRPr lang="zh-CN" altLang="en-US" b="1" i="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6824" y="1915098"/>
            <a:ext cx="2098384" cy="2787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035651" y="2712488"/>
            <a:ext cx="324060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思考：如何保存工程？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945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 rotWithShape="1">
          <a:blip r:embed="rId2"/>
          <a:srcRect l="5743" t="8303" r="19290" b="22609"/>
          <a:stretch/>
        </p:blipFill>
        <p:spPr>
          <a:xfrm>
            <a:off x="1525068" y="896346"/>
            <a:ext cx="8985380" cy="584096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实验箱操作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编程</a:t>
            </a:r>
            <a:endParaRPr lang="zh-CN" altLang="en-US" b="1" dirty="0"/>
          </a:p>
        </p:txBody>
      </p:sp>
      <p:sp>
        <p:nvSpPr>
          <p:cNvPr id="8" name="矩形 7"/>
          <p:cNvSpPr/>
          <p:nvPr/>
        </p:nvSpPr>
        <p:spPr>
          <a:xfrm>
            <a:off x="2747377" y="4744452"/>
            <a:ext cx="173070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atinLnBrk="1"/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命名为 </a:t>
            </a:r>
            <a:r>
              <a:rPr lang="en-US" altLang="zh-CN" b="1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xxx.c</a:t>
            </a:r>
            <a:endParaRPr lang="zh-CN" altLang="en-US" b="1" i="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03431" y="5113784"/>
            <a:ext cx="437536" cy="2892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963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 rotWithShape="1">
          <a:blip r:embed="rId2"/>
          <a:srcRect l="5869" t="8549" r="19491" b="22484"/>
          <a:stretch/>
        </p:blipFill>
        <p:spPr>
          <a:xfrm>
            <a:off x="785190" y="834887"/>
            <a:ext cx="10187609" cy="57845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实验箱操作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编程</a:t>
            </a:r>
            <a:endParaRPr lang="zh-CN" altLang="en-US" b="1" dirty="0"/>
          </a:p>
        </p:txBody>
      </p:sp>
      <p:sp>
        <p:nvSpPr>
          <p:cNvPr id="9" name="矩形 8"/>
          <p:cNvSpPr/>
          <p:nvPr/>
        </p:nvSpPr>
        <p:spPr>
          <a:xfrm>
            <a:off x="1339134" y="4107562"/>
            <a:ext cx="2795543" cy="4634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528503" y="3678635"/>
            <a:ext cx="206316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atinLnBrk="1"/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.c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文件加入工程</a:t>
            </a:r>
            <a:endParaRPr lang="zh-CN" altLang="en-US" b="1" i="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1877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 rotWithShape="1">
          <a:blip r:embed="rId2"/>
          <a:srcRect l="5626" t="8487" r="19321" b="22404"/>
          <a:stretch/>
        </p:blipFill>
        <p:spPr>
          <a:xfrm>
            <a:off x="1172816" y="874644"/>
            <a:ext cx="9501809" cy="56056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实验箱操作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编程</a:t>
            </a:r>
            <a:endParaRPr lang="zh-CN" altLang="en-US" b="1" dirty="0"/>
          </a:p>
        </p:txBody>
      </p:sp>
      <p:sp>
        <p:nvSpPr>
          <p:cNvPr id="9" name="矩形 8"/>
          <p:cNvSpPr/>
          <p:nvPr/>
        </p:nvSpPr>
        <p:spPr>
          <a:xfrm>
            <a:off x="1172816" y="1490870"/>
            <a:ext cx="775254" cy="3170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90981" y="1907260"/>
            <a:ext cx="417047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atinLnBrk="1"/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建立工程正确，此处的状态、点击编译</a:t>
            </a:r>
            <a:endParaRPr lang="zh-CN" altLang="en-US" b="1" i="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右箭头 2"/>
          <p:cNvSpPr/>
          <p:nvPr/>
        </p:nvSpPr>
        <p:spPr>
          <a:xfrm rot="8531554">
            <a:off x="1751663" y="1217202"/>
            <a:ext cx="571637" cy="34749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16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 rotWithShape="1">
          <a:blip r:embed="rId2"/>
          <a:srcRect b="4374"/>
          <a:stretch/>
        </p:blipFill>
        <p:spPr>
          <a:xfrm>
            <a:off x="827883" y="819226"/>
            <a:ext cx="9190760" cy="564955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实验箱操作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编程</a:t>
            </a:r>
            <a:endParaRPr lang="zh-CN" altLang="en-US" b="1" dirty="0"/>
          </a:p>
        </p:txBody>
      </p:sp>
      <p:sp>
        <p:nvSpPr>
          <p:cNvPr id="9" name="矩形 8"/>
          <p:cNvSpPr/>
          <p:nvPr/>
        </p:nvSpPr>
        <p:spPr>
          <a:xfrm>
            <a:off x="2493281" y="1235153"/>
            <a:ext cx="339371" cy="2656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/>
          <p:nvPr/>
        </p:nvPicPr>
        <p:blipFill rotWithShape="1">
          <a:blip r:embed="rId3"/>
          <a:srcRect l="29962" t="21858" r="30088" b="26214"/>
          <a:stretch/>
        </p:blipFill>
        <p:spPr>
          <a:xfrm>
            <a:off x="546651" y="2266121"/>
            <a:ext cx="5118653" cy="375699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045481" y="2391406"/>
            <a:ext cx="445389" cy="3020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008136" y="2812162"/>
            <a:ext cx="1212142" cy="3641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410" y="3941615"/>
            <a:ext cx="2457853" cy="1843389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623029" y="5237311"/>
            <a:ext cx="445389" cy="3020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左箭头 10"/>
          <p:cNvSpPr/>
          <p:nvPr/>
        </p:nvSpPr>
        <p:spPr>
          <a:xfrm rot="2552416" flipH="1">
            <a:off x="3136781" y="3372552"/>
            <a:ext cx="724633" cy="373213"/>
          </a:xfrm>
          <a:prstGeom prst="lef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左箭头 11"/>
          <p:cNvSpPr/>
          <p:nvPr/>
        </p:nvSpPr>
        <p:spPr>
          <a:xfrm rot="5400000" flipH="1">
            <a:off x="2421217" y="1723466"/>
            <a:ext cx="483496" cy="373213"/>
          </a:xfrm>
          <a:prstGeom prst="lef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/>
          <p:nvPr/>
        </p:nvPicPr>
        <p:blipFill rotWithShape="1">
          <a:blip r:embed="rId5"/>
          <a:srcRect l="30528" t="21858" r="30276" b="26549"/>
          <a:stretch/>
        </p:blipFill>
        <p:spPr>
          <a:xfrm>
            <a:off x="6251712" y="2266121"/>
            <a:ext cx="5198166" cy="3756992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7084437" y="2391406"/>
            <a:ext cx="445389" cy="3020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583450" y="3518452"/>
            <a:ext cx="2858724" cy="2782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301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 rotWithShape="1">
          <a:blip r:embed="rId2"/>
          <a:srcRect l="17534" t="39605" r="44877" b="20613"/>
          <a:stretch/>
        </p:blipFill>
        <p:spPr>
          <a:xfrm>
            <a:off x="1201213" y="1500807"/>
            <a:ext cx="9155361" cy="535719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实验箱操作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编程</a:t>
            </a:r>
            <a:endParaRPr lang="zh-CN" altLang="en-US" b="1" dirty="0"/>
          </a:p>
        </p:txBody>
      </p:sp>
      <p:sp>
        <p:nvSpPr>
          <p:cNvPr id="9" name="矩形 8"/>
          <p:cNvSpPr/>
          <p:nvPr/>
        </p:nvSpPr>
        <p:spPr>
          <a:xfrm>
            <a:off x="1201213" y="1821563"/>
            <a:ext cx="3003540" cy="4634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849314" y="911382"/>
            <a:ext cx="8199148" cy="58105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b="1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新建工程的另一个方法：找</a:t>
            </a:r>
            <a:r>
              <a:rPr lang="zh-CN" altLang="en-US" sz="24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400" b="1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个现有工程，直接改写</a:t>
            </a:r>
            <a:endParaRPr lang="en-US" altLang="zh-CN" sz="2400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8434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实验箱操作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程序烧写（改）</a:t>
            </a:r>
            <a:endParaRPr lang="zh-CN" altLang="en-US" b="1" dirty="0"/>
          </a:p>
        </p:txBody>
      </p:sp>
      <p:pic>
        <p:nvPicPr>
          <p:cNvPr id="1026" name="Picture 2" descr="uspis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185" y="936707"/>
            <a:ext cx="6662734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254442" y="1036251"/>
            <a:ext cx="480258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点击“打开文件（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Flash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）”按钮找到</a:t>
            </a:r>
            <a:r>
              <a:rPr lang="en-US" altLang="zh-CN" sz="24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HEX</a:t>
            </a:r>
            <a:r>
              <a:rPr lang="zh-CN" altLang="zh-CN" sz="24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24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然后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点击“写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Flash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”按钮，程序将烧录到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MCU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当中</a:t>
            </a:r>
            <a:r>
              <a:rPr lang="zh-CN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kern="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其它的功能，也可以进行操作。如：先选取“擦除芯片”、“编程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Flash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”，然后点击“自动编程”，刚系统会自动依次进行“擦除芯片”、“编程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Flash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”的操作。</a:t>
            </a:r>
          </a:p>
        </p:txBody>
      </p:sp>
      <p:sp>
        <p:nvSpPr>
          <p:cNvPr id="5" name="矩形 4"/>
          <p:cNvSpPr/>
          <p:nvPr/>
        </p:nvSpPr>
        <p:spPr>
          <a:xfrm>
            <a:off x="10893287" y="3578087"/>
            <a:ext cx="1017767" cy="5486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10893287" y="5073552"/>
            <a:ext cx="1017767" cy="5486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638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4"/>
          <a:stretch/>
        </p:blipFill>
        <p:spPr>
          <a:xfrm rot="10800000">
            <a:off x="5666279" y="1163855"/>
            <a:ext cx="6189019" cy="507709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实验箱操作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传感器</a:t>
            </a:r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7605089" y="1659906"/>
            <a:ext cx="906452" cy="7289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74" name="Picture 2" descr="ds18b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82" y="2507433"/>
            <a:ext cx="5262562" cy="324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176982" y="590626"/>
            <a:ext cx="5262562" cy="727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72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DS18B20</a:t>
            </a: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单线温度传感电路</a:t>
            </a:r>
          </a:p>
        </p:txBody>
      </p:sp>
      <p:sp>
        <p:nvSpPr>
          <p:cNvPr id="7" name="矩形 6"/>
          <p:cNvSpPr/>
          <p:nvPr/>
        </p:nvSpPr>
        <p:spPr>
          <a:xfrm>
            <a:off x="1021456" y="1318197"/>
            <a:ext cx="35702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《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实验指导书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》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实验十七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2714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实验箱操作</a:t>
            </a:r>
            <a:r>
              <a:rPr lang="en-US" altLang="zh-CN" dirty="0" smtClean="0"/>
              <a:t>——</a:t>
            </a:r>
            <a:r>
              <a:rPr lang="zh-CN" altLang="en-US" dirty="0"/>
              <a:t>传感器</a:t>
            </a:r>
            <a:endParaRPr lang="zh-CN" altLang="en-US" b="1" dirty="0"/>
          </a:p>
        </p:txBody>
      </p:sp>
      <p:pic>
        <p:nvPicPr>
          <p:cNvPr id="4098" name="Picture 2" descr="hs1101湿度检测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82" y="1960232"/>
            <a:ext cx="5262562" cy="374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176982" y="590626"/>
            <a:ext cx="5262562" cy="727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72000"/>
              </a:lnSpc>
              <a:spcBef>
                <a:spcPts val="1300"/>
              </a:spcBef>
              <a:spcAft>
                <a:spcPts val="1300"/>
              </a:spcAft>
            </a:pPr>
            <a:r>
              <a:rPr lang="zh-CN" altLang="en-US" sz="24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湿度</a:t>
            </a:r>
            <a:r>
              <a:rPr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检测</a:t>
            </a:r>
            <a:r>
              <a:rPr lang="zh-CN" altLang="en-US" sz="24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电路</a:t>
            </a:r>
            <a:endParaRPr lang="zh-CN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28334" y="1232661"/>
            <a:ext cx="35702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《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实验指导书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》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实验十八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4"/>
          <a:stretch/>
        </p:blipFill>
        <p:spPr>
          <a:xfrm rot="10800000">
            <a:off x="5666279" y="1124099"/>
            <a:ext cx="6189019" cy="5077098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7832034" y="2313830"/>
            <a:ext cx="711311" cy="5282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977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4"/>
          <a:stretch/>
        </p:blipFill>
        <p:spPr>
          <a:xfrm rot="10800000">
            <a:off x="5666279" y="1124099"/>
            <a:ext cx="6189019" cy="507709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实验箱操作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传感器</a:t>
            </a:r>
            <a:endParaRPr lang="zh-CN" altLang="en-US" b="1" dirty="0"/>
          </a:p>
        </p:txBody>
      </p:sp>
      <p:pic>
        <p:nvPicPr>
          <p:cNvPr id="5122" name="Picture 2" descr="adc080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82" y="2053717"/>
            <a:ext cx="5262562" cy="321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176982" y="590626"/>
            <a:ext cx="5262562" cy="642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72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24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ADC0809</a:t>
            </a:r>
            <a:r>
              <a:rPr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模数转换</a:t>
            </a:r>
            <a:r>
              <a:rPr lang="zh-CN" altLang="en-US" sz="24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电路</a:t>
            </a:r>
            <a:endParaRPr lang="zh-CN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28906" y="1348529"/>
            <a:ext cx="37930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《A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实验指导书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》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实验十三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66181" y="1348529"/>
            <a:ext cx="4881465" cy="1077218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en-US" altLang="zh-CN" sz="32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AD</a:t>
            </a:r>
            <a:r>
              <a:rPr lang="zh-CN" altLang="en-US" sz="32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模块读取调压模块电压</a:t>
            </a:r>
            <a:endParaRPr lang="en-US" altLang="zh-CN" sz="3200" dirty="0" smtClean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ctr"/>
            <a:r>
              <a:rPr lang="en-US" altLang="zh-CN" sz="32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</a:t>
            </a:r>
            <a:r>
              <a:rPr lang="zh-CN" altLang="en-US" sz="32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光照、声音、速度传感</a:t>
            </a:r>
            <a:r>
              <a:rPr lang="en-US" altLang="zh-CN" sz="32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461331" y="2866767"/>
            <a:ext cx="990691" cy="7414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079354" y="3608172"/>
            <a:ext cx="301749" cy="5334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5872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4"/>
          <a:stretch/>
        </p:blipFill>
        <p:spPr>
          <a:xfrm rot="10800000">
            <a:off x="5666279" y="1124099"/>
            <a:ext cx="6189019" cy="507709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实验箱操作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执行器</a:t>
            </a:r>
            <a:endParaRPr lang="zh-CN" altLang="en-US" b="1" dirty="0"/>
          </a:p>
        </p:txBody>
      </p:sp>
      <p:sp>
        <p:nvSpPr>
          <p:cNvPr id="4" name="矩形 3"/>
          <p:cNvSpPr/>
          <p:nvPr/>
        </p:nvSpPr>
        <p:spPr>
          <a:xfrm>
            <a:off x="639930" y="590626"/>
            <a:ext cx="4100820" cy="727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72000"/>
              </a:lnSpc>
              <a:spcBef>
                <a:spcPts val="1300"/>
              </a:spcBef>
              <a:spcAft>
                <a:spcPts val="1300"/>
              </a:spcAft>
            </a:pPr>
            <a:r>
              <a:rPr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八位独立</a:t>
            </a:r>
            <a:r>
              <a:rPr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电路</a:t>
            </a:r>
            <a:endParaRPr lang="zh-CN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170" name="Picture 2" descr="led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30" y="1224709"/>
            <a:ext cx="4100820" cy="2278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 descr="dac083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310" y="4113406"/>
            <a:ext cx="3362060" cy="2597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639930" y="3385835"/>
            <a:ext cx="4100820" cy="727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72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DAC0832</a:t>
            </a: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数模转换电路</a:t>
            </a:r>
          </a:p>
        </p:txBody>
      </p:sp>
      <p:sp>
        <p:nvSpPr>
          <p:cNvPr id="7" name="矩形 6"/>
          <p:cNvSpPr/>
          <p:nvPr/>
        </p:nvSpPr>
        <p:spPr>
          <a:xfrm>
            <a:off x="6484149" y="1274651"/>
            <a:ext cx="4801314" cy="1323439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en-US" altLang="zh-CN" sz="3200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DA</a:t>
            </a:r>
            <a:r>
              <a:rPr lang="zh-CN" altLang="en-US" sz="3200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模块驱动</a:t>
            </a:r>
            <a:r>
              <a:rPr lang="en-US" altLang="zh-CN" sz="3200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LED</a:t>
            </a:r>
          </a:p>
          <a:p>
            <a:pPr algn="ctr"/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《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实验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指导书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》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实验十四</a:t>
            </a:r>
            <a:endParaRPr lang="en-US" altLang="zh-CN" sz="2400" dirty="0" smtClean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需要实现亮度的调节（不是亮灭）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07562" y="5190284"/>
            <a:ext cx="1154490" cy="9083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386535" y="3561000"/>
            <a:ext cx="1177019" cy="10269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68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4"/>
          <a:stretch/>
        </p:blipFill>
        <p:spPr>
          <a:xfrm rot="10800000">
            <a:off x="5338288" y="1187224"/>
            <a:ext cx="6189019" cy="507709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实验箱操作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执行器（改）</a:t>
            </a:r>
            <a:endParaRPr lang="zh-CN" altLang="en-US" b="1" dirty="0"/>
          </a:p>
        </p:txBody>
      </p:sp>
      <p:pic>
        <p:nvPicPr>
          <p:cNvPr id="6146" name="Picture 2" descr="buz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374" y="1232661"/>
            <a:ext cx="3081932" cy="2220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639930" y="590626"/>
            <a:ext cx="4100820" cy="642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72000"/>
              </a:lnSpc>
              <a:spcBef>
                <a:spcPts val="1300"/>
              </a:spcBef>
              <a:spcAft>
                <a:spcPts val="1300"/>
              </a:spcAft>
            </a:pPr>
            <a:r>
              <a:rPr lang="zh-CN" altLang="en-US" sz="24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有源</a:t>
            </a:r>
            <a:r>
              <a:rPr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蜂鸣器电路</a:t>
            </a:r>
            <a:endParaRPr lang="zh-CN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51346" y="3725773"/>
            <a:ext cx="3877985" cy="2123658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en-US" altLang="zh-CN" sz="3600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PWM</a:t>
            </a:r>
            <a:r>
              <a:rPr lang="zh-CN" altLang="en-US" sz="3600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驱动蜂鸣器</a:t>
            </a:r>
            <a:endParaRPr lang="en-US" altLang="zh-CN" sz="3600" dirty="0" smtClean="0">
              <a:solidFill>
                <a:srgbClr val="00B0F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《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实验指导书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》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实验六</a:t>
            </a:r>
            <a:endParaRPr lang="en-US" altLang="zh-CN" sz="2400" dirty="0" smtClean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ctr"/>
            <a:r>
              <a:rPr lang="zh-CN" altLang="en-US" sz="36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需要</a:t>
            </a:r>
            <a:r>
              <a:rPr lang="zh-CN" altLang="en-US" sz="36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实现音量调节</a:t>
            </a:r>
            <a:endParaRPr lang="en-US" altLang="zh-CN" sz="3600" dirty="0" smtClean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ctr"/>
            <a:r>
              <a:rPr lang="zh-CN" altLang="en-US" sz="36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（不是响或不响）</a:t>
            </a:r>
            <a:endParaRPr lang="en-US" altLang="zh-CN" sz="3600" dirty="0" smtClean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862101" y="2319308"/>
            <a:ext cx="645046" cy="9004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011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实验箱操作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执行器</a:t>
            </a:r>
            <a:endParaRPr lang="zh-CN" altLang="en-US" b="1" dirty="0"/>
          </a:p>
        </p:txBody>
      </p:sp>
      <p:sp>
        <p:nvSpPr>
          <p:cNvPr id="3" name="矩形 2"/>
          <p:cNvSpPr/>
          <p:nvPr/>
        </p:nvSpPr>
        <p:spPr>
          <a:xfrm>
            <a:off x="176982" y="590626"/>
            <a:ext cx="5262562" cy="642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72000"/>
              </a:lnSpc>
              <a:spcBef>
                <a:spcPts val="1300"/>
              </a:spcBef>
              <a:spcAft>
                <a:spcPts val="1300"/>
              </a:spcAft>
            </a:pPr>
            <a:r>
              <a:rPr lang="zh-CN" altLang="en-US" sz="24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步进电机</a:t>
            </a:r>
            <a:r>
              <a:rPr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及驱动电路</a:t>
            </a:r>
            <a:endParaRPr lang="zh-CN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194" name="Picture 2" descr="步进电机驱动电路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82" y="1877700"/>
            <a:ext cx="5262562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869270" y="1324348"/>
            <a:ext cx="38779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《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实验指导书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》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实验二十二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4"/>
          <a:stretch/>
        </p:blipFill>
        <p:spPr>
          <a:xfrm rot="10800000">
            <a:off x="5666279" y="1124099"/>
            <a:ext cx="6189019" cy="507709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907819" y="4518991"/>
            <a:ext cx="1470991" cy="8004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206242" y="2735703"/>
            <a:ext cx="5109091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需要实现转速的调节（不是停或转）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870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实验箱操作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显示</a:t>
            </a:r>
            <a:endParaRPr lang="zh-CN" altLang="en-US" b="1" dirty="0"/>
          </a:p>
        </p:txBody>
      </p:sp>
      <p:pic>
        <p:nvPicPr>
          <p:cNvPr id="10242" name="Picture 2" descr="smg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543" y="1232661"/>
            <a:ext cx="5264150" cy="449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248543" y="590626"/>
            <a:ext cx="5264150" cy="727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72000"/>
              </a:lnSpc>
              <a:spcBef>
                <a:spcPts val="1300"/>
              </a:spcBef>
              <a:spcAft>
                <a:spcPts val="1300"/>
              </a:spcAft>
            </a:pP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八位</a:t>
            </a:r>
            <a:r>
              <a:rPr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段码</a:t>
            </a:r>
            <a:r>
              <a:rPr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数码管电路</a:t>
            </a:r>
            <a:endParaRPr lang="zh-CN" altLang="en-US" sz="24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49184" y="590626"/>
            <a:ext cx="5272087" cy="727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72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LCD12864</a:t>
            </a: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点阵液晶屏显示电路</a:t>
            </a:r>
            <a:endParaRPr lang="zh-CN" altLang="en-US" sz="24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44" name="Picture 4" descr="lcd1286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185" y="1328704"/>
            <a:ext cx="5272087" cy="430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941623" y="5866652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《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实验指导书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》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实验二十三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46231" y="5866652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《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实验指导书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》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实验二十六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4132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实验箱操作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按键</a:t>
            </a:r>
            <a:endParaRPr lang="zh-CN" altLang="en-US" b="1" dirty="0"/>
          </a:p>
        </p:txBody>
      </p:sp>
      <p:sp>
        <p:nvSpPr>
          <p:cNvPr id="4" name="矩形 3"/>
          <p:cNvSpPr/>
          <p:nvPr/>
        </p:nvSpPr>
        <p:spPr>
          <a:xfrm>
            <a:off x="278296" y="590626"/>
            <a:ext cx="5799352" cy="727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72000"/>
              </a:lnSpc>
              <a:spcBef>
                <a:spcPts val="1300"/>
              </a:spcBef>
              <a:spcAft>
                <a:spcPts val="1300"/>
              </a:spcAft>
            </a:pP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矩阵键盘带中断输出电路</a:t>
            </a:r>
            <a:endParaRPr lang="zh-CN" altLang="en-US" sz="24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218" name="Picture 2" descr="矩阵键盘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31" y="1357004"/>
            <a:ext cx="5720317" cy="427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489561" y="633393"/>
            <a:ext cx="5256212" cy="727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72000"/>
              </a:lnSpc>
              <a:spcBef>
                <a:spcPts val="1300"/>
              </a:spcBef>
              <a:spcAft>
                <a:spcPts val="1300"/>
              </a:spcAft>
            </a:pP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八位轻触按键电路</a:t>
            </a:r>
            <a:endParaRPr lang="zh-CN" altLang="en-US" sz="24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219" name="Picture 3" descr="key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561" y="1693554"/>
            <a:ext cx="5256212" cy="360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7178671" y="5747380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《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实验指导书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》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实验二十九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78493" y="5747381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《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实验指导书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》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实验二十七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68665" y="1551938"/>
            <a:ext cx="3877985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需要实现更改设定值的功能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8142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实验箱操作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资源</a:t>
            </a:r>
            <a:endParaRPr lang="zh-CN" altLang="en-US" b="1" dirty="0"/>
          </a:p>
        </p:txBody>
      </p:sp>
      <p:sp>
        <p:nvSpPr>
          <p:cNvPr id="4" name="矩形 3"/>
          <p:cNvSpPr/>
          <p:nvPr/>
        </p:nvSpPr>
        <p:spPr>
          <a:xfrm>
            <a:off x="692426" y="1679713"/>
            <a:ext cx="1072763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altLang="zh-CN" sz="2800" b="1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《</a:t>
            </a:r>
            <a:r>
              <a:rPr lang="zh-CN" altLang="en-US" sz="2800" b="1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计算机控制系统设计性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实验指导书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》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位置：</a:t>
            </a:r>
            <a:endParaRPr lang="en-US" altLang="zh-CN" sz="2800" b="1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zh-CN" altLang="en-US" sz="28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桌面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\</a:t>
            </a:r>
            <a:r>
              <a:rPr lang="en-US" altLang="zh-CN" sz="28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zh-CN" sz="28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计算机控制系统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\</a:t>
            </a: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例程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位置：</a:t>
            </a:r>
            <a:endParaRPr lang="en-US" altLang="zh-CN" sz="2800" b="1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zh-CN" altLang="en-US" sz="28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桌面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\1</a:t>
            </a:r>
            <a:r>
              <a:rPr lang="en-US" altLang="zh-CN" sz="28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zh-CN" sz="28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计算机控制系统</a:t>
            </a:r>
            <a:r>
              <a:rPr lang="en-US" altLang="zh-CN" sz="28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\</a:t>
            </a:r>
            <a:r>
              <a:rPr lang="zh-CN" altLang="zh-CN" sz="28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实验箱资料</a:t>
            </a:r>
            <a:r>
              <a:rPr lang="en-US" altLang="zh-CN" sz="28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\MCS51-AT89S52\PROJECT</a:t>
            </a:r>
            <a:endParaRPr lang="zh-CN" altLang="zh-CN" sz="2800" kern="1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18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96348" y="1918252"/>
            <a:ext cx="1100261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800" b="1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下课后，请</a:t>
            </a:r>
            <a:r>
              <a:rPr lang="zh-CN" altLang="en-US" sz="4000" b="1" kern="1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整理连接线</a:t>
            </a:r>
            <a:r>
              <a:rPr lang="zh-CN" altLang="en-US" sz="280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3600" b="1" kern="1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关闭计算机</a:t>
            </a:r>
            <a:r>
              <a:rPr lang="zh-CN" altLang="en-US" sz="280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3600" b="1" kern="1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关闭实验室电源</a:t>
            </a:r>
            <a:r>
              <a:rPr lang="zh-CN" altLang="en-US" sz="2800" b="1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！</a:t>
            </a:r>
            <a:endParaRPr lang="en-US" altLang="zh-CN" sz="2800" b="1" kern="100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200000"/>
              </a:lnSpc>
            </a:pPr>
            <a:r>
              <a:rPr lang="zh-CN" altLang="en-US" sz="4000" b="1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实验室环境维护靠大家！！！</a:t>
            </a:r>
            <a:endParaRPr lang="en-US" altLang="zh-CN" sz="4000" b="1" kern="100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732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1406</Words>
  <Application>Microsoft Office PowerPoint</Application>
  <PresentationFormat>宽屏</PresentationFormat>
  <Paragraphs>261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8" baseType="lpstr">
      <vt:lpstr>等线</vt:lpstr>
      <vt:lpstr>等线 Light</vt:lpstr>
      <vt:lpstr>宋体</vt:lpstr>
      <vt:lpstr>微软雅黑</vt:lpstr>
      <vt:lpstr>Arial</vt:lpstr>
      <vt:lpstr>Arial</vt:lpstr>
      <vt:lpstr>Times New Roman</vt:lpstr>
      <vt:lpstr>Wingdings</vt:lpstr>
      <vt:lpstr>Office 主题​​</vt:lpstr>
      <vt:lpstr>PowerPoint 演示文稿</vt:lpstr>
      <vt:lpstr>实验基本情况</vt:lpstr>
      <vt:lpstr>设计题目</vt:lpstr>
      <vt:lpstr>实验目的</vt:lpstr>
      <vt:lpstr>成品要求</vt:lpstr>
      <vt:lpstr>设计题目详解——题目1：孵化室温度控制系统设计</vt:lpstr>
      <vt:lpstr>设计题目详解——题目2：机柜温度控制系统设计</vt:lpstr>
      <vt:lpstr>设计题目详解——题目3：烤箱湿度控制系统设计</vt:lpstr>
      <vt:lpstr>设计题目详解——题目4：粮仓湿度控制系统设计</vt:lpstr>
      <vt:lpstr>设计题目详解——题目5：室内亮度控制系统设计</vt:lpstr>
      <vt:lpstr>设计题目详解——题目6：自动音量调节系统设计</vt:lpstr>
      <vt:lpstr>设计题目详解——题目7：定速巡航小车设计</vt:lpstr>
      <vt:lpstr>设计题目详解——传感器选型</vt:lpstr>
      <vt:lpstr>设计题目详解——执行器选型</vt:lpstr>
      <vt:lpstr>设计题目详解——控制算法选择</vt:lpstr>
      <vt:lpstr>实验箱操作——准备工作</vt:lpstr>
      <vt:lpstr>实验箱操作——准备工作</vt:lpstr>
      <vt:lpstr>实验箱操作——编程</vt:lpstr>
      <vt:lpstr>实验箱操作——编程</vt:lpstr>
      <vt:lpstr>实验箱操作——编程</vt:lpstr>
      <vt:lpstr>实验箱操作——编程</vt:lpstr>
      <vt:lpstr>实验箱操作——编程</vt:lpstr>
      <vt:lpstr>实验箱操作——编程</vt:lpstr>
      <vt:lpstr>实验箱操作——编程</vt:lpstr>
      <vt:lpstr>实验箱操作——编程</vt:lpstr>
      <vt:lpstr>实验箱操作——编程</vt:lpstr>
      <vt:lpstr>实验箱操作——编程</vt:lpstr>
      <vt:lpstr>实验箱操作——编程</vt:lpstr>
      <vt:lpstr>实验箱操作——程序烧写（改）</vt:lpstr>
      <vt:lpstr>实验箱操作——传感器</vt:lpstr>
      <vt:lpstr>实验箱操作——传感器</vt:lpstr>
      <vt:lpstr>实验箱操作——传感器</vt:lpstr>
      <vt:lpstr>实验箱操作——执行器</vt:lpstr>
      <vt:lpstr>实验箱操作——执行器（改）</vt:lpstr>
      <vt:lpstr>实验箱操作——执行器</vt:lpstr>
      <vt:lpstr>实验箱操作——显示</vt:lpstr>
      <vt:lpstr>实验箱操作——按键</vt:lpstr>
      <vt:lpstr>实验箱操作——资源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Piaoheng</cp:lastModifiedBy>
  <cp:revision>49</cp:revision>
  <dcterms:created xsi:type="dcterms:W3CDTF">2023-04-18T14:07:24Z</dcterms:created>
  <dcterms:modified xsi:type="dcterms:W3CDTF">2025-01-13T07:21:10Z</dcterms:modified>
</cp:coreProperties>
</file>